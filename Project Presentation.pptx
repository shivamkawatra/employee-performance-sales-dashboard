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8" r:id="rId2"/>
    <p:sldId id="259" r:id="rId3"/>
    <p:sldId id="260" r:id="rId4"/>
    <p:sldId id="261" r:id="rId5"/>
    <p:sldId id="262" r:id="rId6"/>
    <p:sldId id="263" r:id="rId7"/>
    <p:sldId id="264" r:id="rId8"/>
    <p:sldId id="265" r:id="rId9"/>
    <p:sldId id="266" r:id="rId10"/>
    <p:sldId id="267" r:id="rId11"/>
  </p:sldIdLst>
  <p:sldSz cx="9144000" cy="5143500" type="screen16x9"/>
  <p:notesSz cx="6858000" cy="9144000"/>
  <p:embeddedFontLst>
    <p:embeddedFont>
      <p:font typeface="Calibri" panose="020F0502020204030204" pitchFamily="34" charset="0"/>
      <p:regular r:id="rId13"/>
      <p:bold r:id="rId14"/>
      <p:italic r:id="rId15"/>
      <p:boldItalic r:id="rId16"/>
    </p:embeddedFont>
    <p:embeddedFont>
      <p:font typeface="Helvetica Neue Light" panose="020B0604020202020204" charset="0"/>
      <p:regular r:id="rId17"/>
      <p:bold r:id="rId18"/>
      <p:italic r:id="rId19"/>
      <p:boldItalic r:id="rId20"/>
    </p:embeddedFont>
    <p:embeddedFont>
      <p:font typeface="IBM Plex Sans" panose="020B0604020202020204" charset="0"/>
      <p:regular r:id="rId21"/>
      <p:bold r:id="rId22"/>
      <p:italic r:id="rId23"/>
      <p:boldItalic r:id="rId24"/>
    </p:embeddedFont>
    <p:embeddedFont>
      <p:font typeface="IBM Plex Sans SemiBold" panose="020B0604020202020204" charset="0"/>
      <p:bold r:id="rId25"/>
      <p:boldItalic r:id="rId26"/>
    </p:embeddedFont>
    <p:embeddedFont>
      <p:font typeface="Tahoma" panose="020B0604030504040204" pitchFamily="3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saDHqNgUEp7JC6cpUXLrtytbs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2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se slide" type="title">
  <p:cSld name="TITLE">
    <p:spTree>
      <p:nvGrpSpPr>
        <p:cNvPr id="1" name="Shape 11"/>
        <p:cNvGrpSpPr/>
        <p:nvPr/>
      </p:nvGrpSpPr>
      <p:grpSpPr>
        <a:xfrm>
          <a:off x="0" y="0"/>
          <a:ext cx="0" cy="0"/>
          <a:chOff x="0" y="0"/>
          <a:chExt cx="0" cy="0"/>
        </a:xfrm>
      </p:grpSpPr>
      <p:sp>
        <p:nvSpPr>
          <p:cNvPr id="12" name="Google Shape;12;p30"/>
          <p:cNvSpPr txBox="1">
            <a:spLocks noGrp="1"/>
          </p:cNvSpPr>
          <p:nvPr>
            <p:ph type="sldNum" idx="12"/>
          </p:nvPr>
        </p:nvSpPr>
        <p:spPr>
          <a:xfrm>
            <a:off x="4458411" y="4905375"/>
            <a:ext cx="222417" cy="379591"/>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blank">
  <p:cSld name="title, blank">
    <p:spTree>
      <p:nvGrpSpPr>
        <p:cNvPr id="1" name="Shape 19"/>
        <p:cNvGrpSpPr/>
        <p:nvPr/>
      </p:nvGrpSpPr>
      <p:grpSpPr>
        <a:xfrm>
          <a:off x="0" y="0"/>
          <a:ext cx="0" cy="0"/>
          <a:chOff x="0" y="0"/>
          <a:chExt cx="0" cy="0"/>
        </a:xfrm>
      </p:grpSpPr>
      <p:sp>
        <p:nvSpPr>
          <p:cNvPr id="20" name="Google Shape;20;p35"/>
          <p:cNvSpPr txBox="1">
            <a:spLocks noGrp="1"/>
          </p:cNvSpPr>
          <p:nvPr>
            <p:ph type="title"/>
          </p:nvPr>
        </p:nvSpPr>
        <p:spPr>
          <a:xfrm>
            <a:off x="210312" y="201168"/>
            <a:ext cx="4142232" cy="20774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35"/>
          <p:cNvSpPr txBox="1">
            <a:spLocks noGrp="1"/>
          </p:cNvSpPr>
          <p:nvPr>
            <p:ph type="ftr" idx="11"/>
          </p:nvPr>
        </p:nvSpPr>
        <p:spPr>
          <a:xfrm>
            <a:off x="3108960" y="4783455"/>
            <a:ext cx="2926080" cy="415499"/>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35"/>
          <p:cNvSpPr txBox="1">
            <a:spLocks noGrp="1"/>
          </p:cNvSpPr>
          <p:nvPr>
            <p:ph type="sldNum" idx="12"/>
          </p:nvPr>
        </p:nvSpPr>
        <p:spPr>
          <a:xfrm>
            <a:off x="6583680" y="4783455"/>
            <a:ext cx="2103120" cy="207749"/>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
        <p:cNvGrpSpPr/>
        <p:nvPr/>
      </p:nvGrpSpPr>
      <p:grpSpPr>
        <a:xfrm>
          <a:off x="0" y="0"/>
          <a:ext cx="0" cy="0"/>
          <a:chOff x="0" y="0"/>
          <a:chExt cx="0" cy="0"/>
        </a:xfrm>
      </p:grpSpPr>
      <p:sp>
        <p:nvSpPr>
          <p:cNvPr id="24" name="Google Shape;24;p36"/>
          <p:cNvSpPr txBox="1">
            <a:spLocks noGrp="1"/>
          </p:cNvSpPr>
          <p:nvPr>
            <p:ph type="title"/>
          </p:nvPr>
        </p:nvSpPr>
        <p:spPr>
          <a:xfrm>
            <a:off x="320765" y="231413"/>
            <a:ext cx="4682490" cy="33909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100" b="1" i="0">
                <a:solidFill>
                  <a:srgbClr val="0043CE"/>
                </a:solidFill>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36"/>
          <p:cNvSpPr txBox="1">
            <a:spLocks noGrp="1"/>
          </p:cNvSpPr>
          <p:nvPr>
            <p:ph type="body" idx="1"/>
          </p:nvPr>
        </p:nvSpPr>
        <p:spPr>
          <a:xfrm>
            <a:off x="45720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28600" algn="l">
              <a:lnSpc>
                <a:spcPct val="100000"/>
              </a:lnSpc>
              <a:spcBef>
                <a:spcPts val="0"/>
              </a:spcBef>
              <a:spcAft>
                <a:spcPts val="0"/>
              </a:spcAft>
              <a:buSzPts val="1100"/>
              <a:buNone/>
              <a:defRPr/>
            </a:lvl6pPr>
            <a:lvl7pPr marL="3200400" lvl="6" indent="-228600" algn="l">
              <a:lnSpc>
                <a:spcPct val="100000"/>
              </a:lnSpc>
              <a:spcBef>
                <a:spcPts val="0"/>
              </a:spcBef>
              <a:spcAft>
                <a:spcPts val="0"/>
              </a:spcAft>
              <a:buSzPts val="1100"/>
              <a:buNone/>
              <a:defRPr/>
            </a:lvl7pPr>
            <a:lvl8pPr marL="3657600" lvl="7" indent="-228600" algn="l">
              <a:lnSpc>
                <a:spcPct val="100000"/>
              </a:lnSpc>
              <a:spcBef>
                <a:spcPts val="0"/>
              </a:spcBef>
              <a:spcAft>
                <a:spcPts val="0"/>
              </a:spcAft>
              <a:buSzPts val="1100"/>
              <a:buNone/>
              <a:defRPr/>
            </a:lvl8pPr>
            <a:lvl9pPr marL="4114800" lvl="8" indent="-228600" algn="l">
              <a:lnSpc>
                <a:spcPct val="100000"/>
              </a:lnSpc>
              <a:spcBef>
                <a:spcPts val="0"/>
              </a:spcBef>
              <a:spcAft>
                <a:spcPts val="0"/>
              </a:spcAft>
              <a:buSzPts val="1100"/>
              <a:buNone/>
              <a:defRPr/>
            </a:lvl9pPr>
          </a:lstStyle>
          <a:p>
            <a:endParaRPr/>
          </a:p>
        </p:txBody>
      </p:sp>
      <p:sp>
        <p:nvSpPr>
          <p:cNvPr id="26" name="Google Shape;26;p36"/>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28600" algn="l">
              <a:lnSpc>
                <a:spcPct val="100000"/>
              </a:lnSpc>
              <a:spcBef>
                <a:spcPts val="0"/>
              </a:spcBef>
              <a:spcAft>
                <a:spcPts val="0"/>
              </a:spcAft>
              <a:buSzPts val="1100"/>
              <a:buNone/>
              <a:defRPr/>
            </a:lvl6pPr>
            <a:lvl7pPr marL="3200400" lvl="6" indent="-228600" algn="l">
              <a:lnSpc>
                <a:spcPct val="100000"/>
              </a:lnSpc>
              <a:spcBef>
                <a:spcPts val="0"/>
              </a:spcBef>
              <a:spcAft>
                <a:spcPts val="0"/>
              </a:spcAft>
              <a:buSzPts val="1100"/>
              <a:buNone/>
              <a:defRPr/>
            </a:lvl7pPr>
            <a:lvl8pPr marL="3657600" lvl="7" indent="-228600" algn="l">
              <a:lnSpc>
                <a:spcPct val="100000"/>
              </a:lnSpc>
              <a:spcBef>
                <a:spcPts val="0"/>
              </a:spcBef>
              <a:spcAft>
                <a:spcPts val="0"/>
              </a:spcAft>
              <a:buSzPts val="1100"/>
              <a:buNone/>
              <a:defRPr/>
            </a:lvl8pPr>
            <a:lvl9pPr marL="4114800" lvl="8" indent="-228600" algn="l">
              <a:lnSpc>
                <a:spcPct val="100000"/>
              </a:lnSpc>
              <a:spcBef>
                <a:spcPts val="0"/>
              </a:spcBef>
              <a:spcAft>
                <a:spcPts val="0"/>
              </a:spcAft>
              <a:buSzPts val="1100"/>
              <a:buNone/>
              <a:defRPr/>
            </a:lvl9pPr>
          </a:lstStyle>
          <a:p>
            <a:endParaRPr/>
          </a:p>
        </p:txBody>
      </p:sp>
      <p:sp>
        <p:nvSpPr>
          <p:cNvPr id="27" name="Google Shape;27;p3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3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3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9"/>
          <p:cNvSpPr txBox="1">
            <a:spLocks noGrp="1"/>
          </p:cNvSpPr>
          <p:nvPr>
            <p:ph type="title"/>
          </p:nvPr>
        </p:nvSpPr>
        <p:spPr>
          <a:xfrm>
            <a:off x="320765" y="231413"/>
            <a:ext cx="4682490" cy="33909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100"/>
              <a:buFont typeface="Arial"/>
              <a:buNone/>
              <a:defRPr sz="2100" b="1" i="0" u="none" strike="noStrike" cap="none">
                <a:solidFill>
                  <a:srgbClr val="0043CE"/>
                </a:solidFill>
                <a:latin typeface="Tahoma"/>
                <a:ea typeface="Tahoma"/>
                <a:cs typeface="Tahoma"/>
                <a:sym typeface="Tahom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29"/>
          <p:cNvSpPr txBox="1">
            <a:spLocks noGrp="1"/>
          </p:cNvSpPr>
          <p:nvPr>
            <p:ph type="body" idx="1"/>
          </p:nvPr>
        </p:nvSpPr>
        <p:spPr>
          <a:xfrm>
            <a:off x="457200" y="1183005"/>
            <a:ext cx="8229600" cy="339471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9pPr>
          </a:lstStyle>
          <a:p>
            <a:endParaRPr/>
          </a:p>
        </p:txBody>
      </p:sp>
      <p:sp>
        <p:nvSpPr>
          <p:cNvPr id="8" name="Google Shape;8;p29"/>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 name="Google Shape;9;p29"/>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 name="Google Shape;10;p29"/>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Lst>
  <mc:AlternateContent xmlns:mc="http://schemas.openxmlformats.org/markup-compatibility/2006" xmlns:p14="http://schemas.microsoft.com/office/powerpoint/2010/main">
    <mc:Choice Requires="p14">
      <p:transition spd="med">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642"/>
            <a:ext cx="9144000" cy="5142215"/>
          </a:xfrm>
          <a:prstGeom prst="rect">
            <a:avLst/>
          </a:prstGeom>
        </p:spPr>
      </p:pic>
      <p:sp>
        <p:nvSpPr>
          <p:cNvPr id="20" name="Eyebrow"/>
          <p:cNvSpPr txBox="1"/>
          <p:nvPr/>
        </p:nvSpPr>
        <p:spPr>
          <a:xfrm>
            <a:off x="349624" y="1035000"/>
            <a:ext cx="6979023" cy="260000"/>
          </a:xfrm>
          <a:prstGeom prst="rect">
            <a:avLst/>
          </a:prstGeom>
          <a:noFill/>
        </p:spPr>
        <p:txBody>
          <a:bodyPr wrap="square" rtlCol="0">
            <a:spAutoFit/>
          </a:bodyPr>
          <a:lstStyle/>
          <a:p>
            <a:r>
              <a:rPr lang="en-IN" sz="1400" spc="200" dirty="0">
                <a:solidFill>
                  <a:srgbClr val="F2994A"/>
                </a:solidFill>
                <a:latin typeface="IBM Plex Sans SemiBold" panose="020B0503050203000203" pitchFamily="34" charset="0"/>
              </a:rPr>
              <a:t>FINAL PROJECT PRESENTATION</a:t>
            </a:r>
          </a:p>
        </p:txBody>
      </p:sp>
      <p:sp>
        <p:nvSpPr>
          <p:cNvPr id="8" name="TextBox 7"/>
          <p:cNvSpPr txBox="1"/>
          <p:nvPr/>
        </p:nvSpPr>
        <p:spPr>
          <a:xfrm>
            <a:off x="349624" y="1330000"/>
            <a:ext cx="8250000" cy="1077218"/>
          </a:xfrm>
          <a:prstGeom prst="rect">
            <a:avLst/>
          </a:prstGeom>
          <a:noFill/>
        </p:spPr>
        <p:txBody>
          <a:bodyPr wrap="square" rtlCol="0">
            <a:spAutoFit/>
          </a:bodyPr>
          <a:lstStyle/>
          <a:p>
            <a:r>
              <a:rPr lang="en-IN" sz="3200" dirty="0">
                <a:solidFill>
                  <a:schemeClr val="bg1"/>
                </a:solidFill>
                <a:latin typeface="IBM Plex Sans SemiBold" panose="020B0503050203000203" pitchFamily="34" charset="0"/>
                <a:cs typeface="Arial" panose="020B0604020202020204" pitchFamily="34" charset="0"/>
              </a:rPr>
              <a:t>Employee Performance &amp; Sales Analytics Dashboard</a:t>
            </a:r>
          </a:p>
        </p:txBody>
      </p:sp>
      <p:cxnSp>
        <p:nvCxnSpPr>
          <p:cNvPr id="10" name="Straight Connector 9"/>
          <p:cNvCxnSpPr>
            <a:cxnSpLocks/>
          </p:cNvCxnSpPr>
          <p:nvPr/>
        </p:nvCxnSpPr>
        <p:spPr>
          <a:xfrm>
            <a:off x="349624" y="3110000"/>
            <a:ext cx="6200000" cy="0"/>
          </a:xfrm>
          <a:prstGeom prst="line">
            <a:avLst/>
          </a:prstGeom>
          <a:ln>
            <a:solidFill>
              <a:srgbClr val="F2994A"/>
            </a:solidFill>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387813" y="3230000"/>
            <a:ext cx="7637778" cy="584775"/>
          </a:xfrm>
          <a:prstGeom prst="rect">
            <a:avLst/>
          </a:prstGeom>
          <a:noFill/>
        </p:spPr>
        <p:txBody>
          <a:bodyPr wrap="square" rtlCol="0">
            <a:spAutoFit/>
          </a:bodyPr>
          <a:lstStyle/>
          <a:p>
            <a:r>
              <a:rPr lang="en-US" sz="1600" dirty="0">
                <a:solidFill>
                  <a:srgbClr val="00B0F0"/>
                </a:solidFill>
                <a:latin typeface="IBM Plex Sans" panose="020B0503050203000203" pitchFamily="34" charset="0"/>
                <a:cs typeface="Arial" panose="020B0604020202020204" pitchFamily="34" charset="0"/>
              </a:rPr>
              <a:t>An Interactive Data Visualization Dashboard built using Employee Performance dataset</a:t>
            </a:r>
          </a:p>
        </p:txBody>
      </p:sp>
      <p:sp>
        <p:nvSpPr>
          <p:cNvPr id="12" name="TextBox 11"/>
          <p:cNvSpPr txBox="1"/>
          <p:nvPr/>
        </p:nvSpPr>
        <p:spPr>
          <a:xfrm>
            <a:off x="349624" y="4630000"/>
            <a:ext cx="7714156" cy="261610"/>
          </a:xfrm>
          <a:prstGeom prst="rect">
            <a:avLst/>
          </a:prstGeom>
          <a:noFill/>
        </p:spPr>
        <p:txBody>
          <a:bodyPr wrap="square" rtlCol="0">
            <a:spAutoFit/>
          </a:bodyPr>
          <a:lstStyle/>
          <a:p>
            <a:r>
              <a:rPr lang="en-US" sz="1100" dirty="0">
                <a:solidFill>
                  <a:schemeClr val="bg1"/>
                </a:solidFill>
                <a:latin typeface="IBM Plex Sans" panose="020B0503050203000203" pitchFamily="34" charset="0"/>
                <a:cs typeface="Arial" panose="020B0604020202020204" pitchFamily="34" charset="0"/>
              </a:rPr>
              <a:t>Presented by: Shivam Kawatra</a:t>
            </a:r>
          </a:p>
        </p:txBody>
      </p:sp>
      <p:pic>
        <p:nvPicPr>
          <p:cNvPr id="4" name="Picture 3"/>
          <p:cNvPicPr>
            <a:picLocks noChangeAspect="1"/>
          </p:cNvPicPr>
          <p:nvPr/>
        </p:nvPicPr>
        <p:blipFill>
          <a:blip r:embed="rId3"/>
          <a:stretch>
            <a:fillRect/>
          </a:stretch>
        </p:blipFill>
        <p:spPr>
          <a:xfrm>
            <a:off x="474654" y="195710"/>
            <a:ext cx="1797900" cy="701493"/>
          </a:xfrm>
          <a:prstGeom prst="rect">
            <a:avLst/>
          </a:prstGeom>
        </p:spPr>
      </p:pic>
      <p:pic>
        <p:nvPicPr>
          <p:cNvPr id="5" name="Picture 4"/>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6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What We’ll Cover</a:t>
            </a:r>
          </a:p>
        </p:txBody>
      </p:sp>
      <p:sp>
        <p:nvSpPr>
          <p:cNvPr id="9" name="Subtitle"/>
          <p:cNvSpPr txBox="1"/>
          <p:nvPr/>
        </p:nvSpPr>
        <p:spPr>
          <a:xfrm>
            <a:off x="368983" y="1130000"/>
            <a:ext cx="75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Agenda for today’s final project presentation</a:t>
            </a:r>
          </a:p>
        </p:txBody>
      </p:sp>
      <p:sp>
        <p:nvSpPr>
          <p:cNvPr id="100" name="NumCircle0"/>
          <p:cNvSpPr/>
          <p:nvPr/>
        </p:nvSpPr>
        <p:spPr>
          <a:xfrm>
            <a:off x="400000" y="150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01</a:t>
            </a:r>
          </a:p>
        </p:txBody>
      </p:sp>
      <p:sp>
        <p:nvSpPr>
          <p:cNvPr id="101" name="Label0"/>
          <p:cNvSpPr txBox="1"/>
          <p:nvPr/>
        </p:nvSpPr>
        <p:spPr>
          <a:xfrm>
            <a:off x="920000" y="153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Introduction &amp; Problem Statement</a:t>
            </a:r>
          </a:p>
        </p:txBody>
      </p:sp>
      <p:sp>
        <p:nvSpPr>
          <p:cNvPr id="102" name="NumCircle1"/>
          <p:cNvSpPr/>
          <p:nvPr/>
        </p:nvSpPr>
        <p:spPr>
          <a:xfrm>
            <a:off x="400000" y="212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02</a:t>
            </a:r>
          </a:p>
        </p:txBody>
      </p:sp>
      <p:sp>
        <p:nvSpPr>
          <p:cNvPr id="103" name="Label1"/>
          <p:cNvSpPr txBox="1"/>
          <p:nvPr/>
        </p:nvSpPr>
        <p:spPr>
          <a:xfrm>
            <a:off x="920000" y="215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Project Objectives</a:t>
            </a:r>
          </a:p>
        </p:txBody>
      </p:sp>
      <p:sp>
        <p:nvSpPr>
          <p:cNvPr id="104" name="NumCircle2"/>
          <p:cNvSpPr/>
          <p:nvPr/>
        </p:nvSpPr>
        <p:spPr>
          <a:xfrm>
            <a:off x="400000" y="274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03</a:t>
            </a:r>
          </a:p>
        </p:txBody>
      </p:sp>
      <p:sp>
        <p:nvSpPr>
          <p:cNvPr id="105" name="Label2"/>
          <p:cNvSpPr txBox="1"/>
          <p:nvPr/>
        </p:nvSpPr>
        <p:spPr>
          <a:xfrm>
            <a:off x="920000" y="277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Dataset Description</a:t>
            </a:r>
          </a:p>
        </p:txBody>
      </p:sp>
      <p:sp>
        <p:nvSpPr>
          <p:cNvPr id="106" name="NumCircle3"/>
          <p:cNvSpPr/>
          <p:nvPr/>
        </p:nvSpPr>
        <p:spPr>
          <a:xfrm>
            <a:off x="400000" y="336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04</a:t>
            </a:r>
          </a:p>
        </p:txBody>
      </p:sp>
      <p:sp>
        <p:nvSpPr>
          <p:cNvPr id="107" name="Label3"/>
          <p:cNvSpPr txBox="1"/>
          <p:nvPr/>
        </p:nvSpPr>
        <p:spPr>
          <a:xfrm>
            <a:off x="920000" y="339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Proposed Dashboard Features</a:t>
            </a:r>
          </a:p>
        </p:txBody>
      </p:sp>
      <p:sp>
        <p:nvSpPr>
          <p:cNvPr id="108" name="NumCircle4"/>
          <p:cNvSpPr/>
          <p:nvPr/>
        </p:nvSpPr>
        <p:spPr>
          <a:xfrm>
            <a:off x="4750000" y="150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05</a:t>
            </a:r>
          </a:p>
        </p:txBody>
      </p:sp>
      <p:sp>
        <p:nvSpPr>
          <p:cNvPr id="109" name="Label4"/>
          <p:cNvSpPr txBox="1"/>
          <p:nvPr/>
        </p:nvSpPr>
        <p:spPr>
          <a:xfrm>
            <a:off x="5270000" y="153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Visualizations &amp; Chart Types</a:t>
            </a:r>
          </a:p>
        </p:txBody>
      </p:sp>
      <p:sp>
        <p:nvSpPr>
          <p:cNvPr id="110" name="NumCircle5"/>
          <p:cNvSpPr/>
          <p:nvPr/>
        </p:nvSpPr>
        <p:spPr>
          <a:xfrm>
            <a:off x="4750000" y="212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06</a:t>
            </a:r>
          </a:p>
        </p:txBody>
      </p:sp>
      <p:sp>
        <p:nvSpPr>
          <p:cNvPr id="111" name="Label5"/>
          <p:cNvSpPr txBox="1"/>
          <p:nvPr/>
        </p:nvSpPr>
        <p:spPr>
          <a:xfrm>
            <a:off x="5270000" y="215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Interactive Filters</a:t>
            </a:r>
          </a:p>
        </p:txBody>
      </p:sp>
      <p:sp>
        <p:nvSpPr>
          <p:cNvPr id="112" name="NumCircle6"/>
          <p:cNvSpPr/>
          <p:nvPr/>
        </p:nvSpPr>
        <p:spPr>
          <a:xfrm>
            <a:off x="4750000" y="274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07</a:t>
            </a:r>
          </a:p>
        </p:txBody>
      </p:sp>
      <p:sp>
        <p:nvSpPr>
          <p:cNvPr id="113" name="Label6"/>
          <p:cNvSpPr txBox="1"/>
          <p:nvPr/>
        </p:nvSpPr>
        <p:spPr>
          <a:xfrm>
            <a:off x="5270000" y="277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Expected Outcomes &amp; Conclusion</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Organizational Performance Insights</a:t>
            </a:r>
          </a:p>
        </p:txBody>
      </p:sp>
      <p:sp>
        <p:nvSpPr>
          <p:cNvPr id="9" name="Subtitle"/>
          <p:cNvSpPr txBox="1"/>
          <p:nvPr/>
        </p:nvSpPr>
        <p:spPr>
          <a:xfrm>
            <a:off x="368983" y="1130000"/>
            <a:ext cx="79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Comprehensive employee analytics across departments, roles, and locations</a:t>
            </a:r>
          </a:p>
        </p:txBody>
      </p:sp>
      <p:sp>
        <p:nvSpPr>
          <p:cNvPr id="20" name="Text20"/>
          <p:cNvSpPr txBox="1"/>
          <p:nvPr/>
        </p:nvSpPr>
        <p:spPr>
          <a:xfrm>
            <a:off x="368983" y="1720000"/>
            <a:ext cx="8406034" cy="800000"/>
          </a:xfrm>
          <a:prstGeom prst="rect">
            <a:avLst/>
          </a:prstGeom>
          <a:noFill/>
        </p:spPr>
        <p:txBody>
          <a:bodyPr wrap="square" lIns="0" tIns="0" rIns="0" bIns="0" anchor="t">
            <a:normAutofit/>
          </a:bodyPr>
          <a:lstStyle/>
          <a:p>
            <a:pPr algn="l"/>
            <a:r>
              <a:rPr lang="en-IN" sz="1350" b="0" i="0" dirty="0">
                <a:solidFill>
                  <a:srgbClr val="333A47"/>
                </a:solidFill>
                <a:latin typeface="IBM Plex Sans" panose="020B0503050203000203" pitchFamily="34" charset="0"/>
              </a:rPr>
              <a:t>Employee data exhibits wide variations in salary structures, sales performance, bonus allocation, and ratings across various departments and office locations. Understanding these differences is essential for effective workforce management, fair compensation distribution, and strategic decision-making. </a:t>
            </a:r>
          </a:p>
        </p:txBody>
      </p:sp>
      <p:sp>
        <p:nvSpPr>
          <p:cNvPr id="30" name="Rect30"/>
          <p:cNvSpPr/>
          <p:nvPr/>
        </p:nvSpPr>
        <p:spPr>
          <a:xfrm>
            <a:off x="368983" y="2950000"/>
            <a:ext cx="1989000" cy="1050000"/>
          </a:xfrm>
          <a:prstGeom prst="rect">
            <a:avLst/>
          </a:prstGeom>
          <a:solidFill>
            <a:srgbClr val="F4F6FB"/>
          </a:solidFill>
          <a:ln>
            <a:noFill/>
          </a:ln>
        </p:spPr>
        <p:txBody>
          <a:bodyPr/>
          <a:lstStyle/>
          <a:p>
            <a:endParaRPr/>
          </a:p>
        </p:txBody>
      </p:sp>
      <p:sp>
        <p:nvSpPr>
          <p:cNvPr id="40" name="Text40"/>
          <p:cNvSpPr txBox="1"/>
          <p:nvPr/>
        </p:nvSpPr>
        <p:spPr>
          <a:xfrm>
            <a:off x="428983" y="3100000"/>
            <a:ext cx="1869000" cy="450000"/>
          </a:xfrm>
          <a:prstGeom prst="rect">
            <a:avLst/>
          </a:prstGeom>
          <a:noFill/>
        </p:spPr>
        <p:txBody>
          <a:bodyPr wrap="square" lIns="0" tIns="0" rIns="0" bIns="0" anchor="t">
            <a:normAutofit fontScale="85000" lnSpcReduction="20000"/>
          </a:bodyPr>
          <a:lstStyle/>
          <a:p>
            <a:pPr algn="ctr"/>
            <a:r>
              <a:rPr lang="en-IN" sz="2000" b="1" i="0" dirty="0">
                <a:solidFill>
                  <a:srgbClr val="0532B3"/>
                </a:solidFill>
                <a:latin typeface="IBM Plex Sans SemiBold" panose="020B0503050203000203" pitchFamily="34" charset="0"/>
              </a:rPr>
              <a:t>Multiple Departments</a:t>
            </a:r>
          </a:p>
        </p:txBody>
      </p:sp>
      <p:sp>
        <p:nvSpPr>
          <p:cNvPr id="50" name="Text50"/>
          <p:cNvSpPr txBox="1"/>
          <p:nvPr/>
        </p:nvSpPr>
        <p:spPr>
          <a:xfrm>
            <a:off x="428983" y="3570000"/>
            <a:ext cx="1869000" cy="380000"/>
          </a:xfrm>
          <a:prstGeom prst="rect">
            <a:avLst/>
          </a:prstGeom>
          <a:noFill/>
        </p:spPr>
        <p:txBody>
          <a:bodyPr wrap="square" lIns="0" tIns="0" rIns="0" bIns="0" anchor="t">
            <a:normAutofit/>
          </a:bodyPr>
          <a:lstStyle/>
          <a:p>
            <a:pPr algn="ctr"/>
            <a:r>
              <a:rPr lang="en-IN" sz="1050" b="0" i="0" dirty="0">
                <a:solidFill>
                  <a:srgbClr val="5B6577"/>
                </a:solidFill>
                <a:latin typeface="IBM Plex Sans" panose="020B0503050203000203" pitchFamily="34" charset="0"/>
              </a:rPr>
              <a:t>Organization diversity</a:t>
            </a:r>
          </a:p>
        </p:txBody>
      </p:sp>
      <p:sp>
        <p:nvSpPr>
          <p:cNvPr id="31" name="Rect31"/>
          <p:cNvSpPr/>
          <p:nvPr/>
        </p:nvSpPr>
        <p:spPr>
          <a:xfrm>
            <a:off x="2507983" y="2950000"/>
            <a:ext cx="1989000" cy="1050000"/>
          </a:xfrm>
          <a:prstGeom prst="rect">
            <a:avLst/>
          </a:prstGeom>
          <a:solidFill>
            <a:srgbClr val="F4F6FB"/>
          </a:solidFill>
          <a:ln>
            <a:noFill/>
          </a:ln>
        </p:spPr>
        <p:txBody>
          <a:bodyPr/>
          <a:lstStyle/>
          <a:p>
            <a:endParaRPr/>
          </a:p>
        </p:txBody>
      </p:sp>
      <p:sp>
        <p:nvSpPr>
          <p:cNvPr id="41" name="Text41"/>
          <p:cNvSpPr txBox="1"/>
          <p:nvPr/>
        </p:nvSpPr>
        <p:spPr>
          <a:xfrm>
            <a:off x="2567983" y="3100000"/>
            <a:ext cx="1869000" cy="450000"/>
          </a:xfrm>
          <a:prstGeom prst="rect">
            <a:avLst/>
          </a:prstGeom>
          <a:noFill/>
        </p:spPr>
        <p:txBody>
          <a:bodyPr wrap="square" lIns="0" tIns="0" rIns="0" bIns="0" anchor="t">
            <a:normAutofit fontScale="85000" lnSpcReduction="10000"/>
          </a:bodyPr>
          <a:lstStyle/>
          <a:p>
            <a:pPr algn="ctr"/>
            <a:r>
              <a:rPr lang="en-IN" sz="2000" b="1" i="0" dirty="0">
                <a:solidFill>
                  <a:srgbClr val="0532B3"/>
                </a:solidFill>
                <a:latin typeface="IBM Plex Sans SemiBold" panose="020B0503050203000203" pitchFamily="34" charset="0"/>
              </a:rPr>
              <a:t>Diverse Locations</a:t>
            </a:r>
          </a:p>
        </p:txBody>
      </p:sp>
      <p:sp>
        <p:nvSpPr>
          <p:cNvPr id="51" name="Text51"/>
          <p:cNvSpPr txBox="1"/>
          <p:nvPr/>
        </p:nvSpPr>
        <p:spPr>
          <a:xfrm>
            <a:off x="2567983" y="3570000"/>
            <a:ext cx="1869000" cy="380000"/>
          </a:xfrm>
          <a:prstGeom prst="rect">
            <a:avLst/>
          </a:prstGeom>
          <a:noFill/>
        </p:spPr>
        <p:txBody>
          <a:bodyPr wrap="square" lIns="0" tIns="0" rIns="0" bIns="0" anchor="t">
            <a:normAutofit/>
          </a:bodyPr>
          <a:lstStyle/>
          <a:p>
            <a:pPr algn="ctr"/>
            <a:r>
              <a:rPr lang="en-IN" sz="1050" b="0" i="0" dirty="0">
                <a:solidFill>
                  <a:srgbClr val="5B6577"/>
                </a:solidFill>
                <a:latin typeface="IBM Plex Sans" panose="020B0503050203000203" pitchFamily="34" charset="0"/>
              </a:rPr>
              <a:t>Regional granularity</a:t>
            </a:r>
          </a:p>
        </p:txBody>
      </p:sp>
      <p:sp>
        <p:nvSpPr>
          <p:cNvPr id="32" name="Rect32"/>
          <p:cNvSpPr/>
          <p:nvPr/>
        </p:nvSpPr>
        <p:spPr>
          <a:xfrm>
            <a:off x="4646983" y="2950000"/>
            <a:ext cx="1989000" cy="1050000"/>
          </a:xfrm>
          <a:prstGeom prst="rect">
            <a:avLst/>
          </a:prstGeom>
          <a:solidFill>
            <a:srgbClr val="F4F6FB"/>
          </a:solidFill>
          <a:ln>
            <a:noFill/>
          </a:ln>
        </p:spPr>
        <p:txBody>
          <a:bodyPr/>
          <a:lstStyle/>
          <a:p>
            <a:endParaRPr/>
          </a:p>
        </p:txBody>
      </p:sp>
      <p:sp>
        <p:nvSpPr>
          <p:cNvPr id="42" name="Text42"/>
          <p:cNvSpPr txBox="1"/>
          <p:nvPr/>
        </p:nvSpPr>
        <p:spPr>
          <a:xfrm>
            <a:off x="4706983" y="3100000"/>
            <a:ext cx="1869000" cy="450000"/>
          </a:xfrm>
          <a:prstGeom prst="rect">
            <a:avLst/>
          </a:prstGeom>
          <a:noFill/>
        </p:spPr>
        <p:txBody>
          <a:bodyPr wrap="square" lIns="0" tIns="0" rIns="0" bIns="0" anchor="t">
            <a:normAutofit fontScale="85000" lnSpcReduction="20000"/>
          </a:bodyPr>
          <a:lstStyle/>
          <a:p>
            <a:pPr algn="ctr"/>
            <a:r>
              <a:rPr lang="en-IN" sz="2000" b="1" i="0" dirty="0">
                <a:solidFill>
                  <a:srgbClr val="0532B3"/>
                </a:solidFill>
                <a:latin typeface="IBM Plex Sans SemiBold" panose="020B0503050203000203" pitchFamily="34" charset="0"/>
              </a:rPr>
              <a:t>Performance Metrics</a:t>
            </a:r>
          </a:p>
        </p:txBody>
      </p:sp>
      <p:sp>
        <p:nvSpPr>
          <p:cNvPr id="52" name="Text52"/>
          <p:cNvSpPr txBox="1"/>
          <p:nvPr/>
        </p:nvSpPr>
        <p:spPr>
          <a:xfrm>
            <a:off x="4706983" y="3570000"/>
            <a:ext cx="1869000" cy="380000"/>
          </a:xfrm>
          <a:prstGeom prst="rect">
            <a:avLst/>
          </a:prstGeom>
          <a:noFill/>
        </p:spPr>
        <p:txBody>
          <a:bodyPr wrap="square" lIns="0" tIns="0" rIns="0" bIns="0" anchor="t">
            <a:normAutofit/>
          </a:bodyPr>
          <a:lstStyle/>
          <a:p>
            <a:pPr algn="ctr"/>
            <a:r>
              <a:rPr lang="en-IN" sz="1050" b="0" i="0" dirty="0">
                <a:solidFill>
                  <a:srgbClr val="5B6577"/>
                </a:solidFill>
                <a:latin typeface="IBM Plex Sans" panose="020B0503050203000203" pitchFamily="34" charset="0"/>
              </a:rPr>
              <a:t>Rating &amp; Compensation</a:t>
            </a:r>
          </a:p>
        </p:txBody>
      </p:sp>
      <p:sp>
        <p:nvSpPr>
          <p:cNvPr id="33" name="Rect33"/>
          <p:cNvSpPr/>
          <p:nvPr/>
        </p:nvSpPr>
        <p:spPr>
          <a:xfrm>
            <a:off x="6785983" y="2950000"/>
            <a:ext cx="1989000" cy="1050000"/>
          </a:xfrm>
          <a:prstGeom prst="rect">
            <a:avLst/>
          </a:prstGeom>
          <a:solidFill>
            <a:srgbClr val="F4F6FB"/>
          </a:solidFill>
          <a:ln>
            <a:noFill/>
          </a:ln>
        </p:spPr>
        <p:txBody>
          <a:bodyPr/>
          <a:lstStyle/>
          <a:p>
            <a:endParaRPr/>
          </a:p>
        </p:txBody>
      </p:sp>
      <p:sp>
        <p:nvSpPr>
          <p:cNvPr id="43" name="Text43"/>
          <p:cNvSpPr txBox="1"/>
          <p:nvPr/>
        </p:nvSpPr>
        <p:spPr>
          <a:xfrm>
            <a:off x="6845983" y="3100000"/>
            <a:ext cx="1869000" cy="450000"/>
          </a:xfrm>
          <a:prstGeom prst="rect">
            <a:avLst/>
          </a:prstGeom>
          <a:noFill/>
        </p:spPr>
        <p:txBody>
          <a:bodyPr wrap="square" lIns="0" tIns="0" rIns="0" bIns="0" anchor="t">
            <a:normAutofit/>
          </a:bodyPr>
          <a:lstStyle/>
          <a:p>
            <a:pPr algn="ctr"/>
            <a:r>
              <a:rPr lang="en-IN" sz="2000" b="1" i="0" dirty="0">
                <a:solidFill>
                  <a:srgbClr val="0532B3"/>
                </a:solidFill>
                <a:latin typeface="IBM Plex Sans SemiBold" panose="020B0503050203000203" pitchFamily="34" charset="0"/>
              </a:rPr>
              <a:t>Sales Analytics</a:t>
            </a:r>
          </a:p>
        </p:txBody>
      </p:sp>
      <p:sp>
        <p:nvSpPr>
          <p:cNvPr id="53" name="Text53"/>
          <p:cNvSpPr txBox="1"/>
          <p:nvPr/>
        </p:nvSpPr>
        <p:spPr>
          <a:xfrm>
            <a:off x="6845983" y="3570000"/>
            <a:ext cx="1869000" cy="380000"/>
          </a:xfrm>
          <a:prstGeom prst="rect">
            <a:avLst/>
          </a:prstGeom>
          <a:noFill/>
        </p:spPr>
        <p:txBody>
          <a:bodyPr wrap="square" lIns="0" tIns="0" rIns="0" bIns="0" anchor="t">
            <a:normAutofit/>
          </a:bodyPr>
          <a:lstStyle/>
          <a:p>
            <a:pPr algn="ctr"/>
            <a:r>
              <a:rPr lang="en-IN" sz="1050" b="0" i="0" dirty="0">
                <a:solidFill>
                  <a:srgbClr val="5B6577"/>
                </a:solidFill>
                <a:latin typeface="IBM Plex Sans" panose="020B0503050203000203" pitchFamily="34" charset="0"/>
              </a:rPr>
              <a:t>Individual Contributions</a:t>
            </a:r>
          </a:p>
        </p:txBody>
      </p:sp>
      <p:sp>
        <p:nvSpPr>
          <p:cNvPr id="60" name="Text60"/>
          <p:cNvSpPr txBox="1"/>
          <p:nvPr/>
        </p:nvSpPr>
        <p:spPr>
          <a:xfrm>
            <a:off x="368983" y="4120000"/>
            <a:ext cx="8000000" cy="260000"/>
          </a:xfrm>
          <a:prstGeom prst="rect">
            <a:avLst/>
          </a:prstGeom>
          <a:noFill/>
        </p:spPr>
        <p:txBody>
          <a:bodyPr wrap="square" lIns="0" tIns="0" rIns="0" bIns="0" anchor="t">
            <a:normAutofit/>
          </a:bodyPr>
          <a:lstStyle/>
          <a:p>
            <a:pPr algn="l"/>
            <a:r>
              <a:rPr lang="en-IN" sz="950" b="0" i="1" dirty="0">
                <a:solidFill>
                  <a:srgbClr val="8A93A3"/>
                </a:solidFill>
                <a:latin typeface="IBM Plex Sans" panose="020B0503050203000203" pitchFamily="34" charset="0"/>
              </a:rPr>
              <a:t>Source: Employee Performance Dataset – synthesized figures for context</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Problem Statement</a:t>
            </a:r>
          </a:p>
        </p:txBody>
      </p:sp>
      <p:sp>
        <p:nvSpPr>
          <p:cNvPr id="9" name="Subtitle"/>
          <p:cNvSpPr txBox="1"/>
          <p:nvPr/>
        </p:nvSpPr>
        <p:spPr>
          <a:xfrm>
            <a:off x="368983" y="1130000"/>
            <a:ext cx="79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Employee data is rich, but hard to </a:t>
            </a:r>
            <a:r>
              <a:rPr lang="en-IN" sz="1200" i="1" dirty="0" err="1">
                <a:solidFill>
                  <a:srgbClr val="5B6577"/>
                </a:solidFill>
                <a:latin typeface="IBM Plex Sans" panose="020B0503050203000203" pitchFamily="34" charset="0"/>
              </a:rPr>
              <a:t>analyze</a:t>
            </a:r>
            <a:r>
              <a:rPr lang="en-IN" sz="1200" i="1" dirty="0">
                <a:solidFill>
                  <a:srgbClr val="5B6577"/>
                </a:solidFill>
                <a:latin typeface="IBM Plex Sans" panose="020B0503050203000203" pitchFamily="34" charset="0"/>
              </a:rPr>
              <a:t>, interpret, and compare across departments</a:t>
            </a:r>
          </a:p>
        </p:txBody>
      </p:sp>
      <p:sp>
        <p:nvSpPr>
          <p:cNvPr id="20" name="Rect20"/>
          <p:cNvSpPr/>
          <p:nvPr/>
        </p:nvSpPr>
        <p:spPr>
          <a:xfrm>
            <a:off x="368983" y="1650000"/>
            <a:ext cx="4050000" cy="3150000"/>
          </a:xfrm>
          <a:prstGeom prst="rect">
            <a:avLst/>
          </a:prstGeom>
          <a:solidFill>
            <a:srgbClr val="FBEFE6"/>
          </a:solidFill>
          <a:ln>
            <a:noFill/>
          </a:ln>
        </p:spPr>
        <p:txBody>
          <a:bodyPr/>
          <a:lstStyle/>
          <a:p>
            <a:endParaRPr/>
          </a:p>
        </p:txBody>
      </p:sp>
      <p:sp>
        <p:nvSpPr>
          <p:cNvPr id="21" name="Rect21"/>
          <p:cNvSpPr/>
          <p:nvPr/>
        </p:nvSpPr>
        <p:spPr>
          <a:xfrm>
            <a:off x="4618983" y="1650000"/>
            <a:ext cx="4050000" cy="3150000"/>
          </a:xfrm>
          <a:prstGeom prst="rect">
            <a:avLst/>
          </a:prstGeom>
          <a:solidFill>
            <a:srgbClr val="EDF1FC"/>
          </a:solidFill>
          <a:ln>
            <a:noFill/>
          </a:ln>
        </p:spPr>
        <p:txBody>
          <a:bodyPr/>
          <a:lstStyle/>
          <a:p>
            <a:endParaRPr/>
          </a:p>
        </p:txBody>
      </p:sp>
      <p:sp>
        <p:nvSpPr>
          <p:cNvPr id="30" name="Circle30"/>
          <p:cNvSpPr/>
          <p:nvPr/>
        </p:nvSpPr>
        <p:spPr>
          <a:xfrm>
            <a:off x="598983" y="1880000"/>
            <a:ext cx="420000" cy="420000"/>
          </a:xfrm>
          <a:prstGeom prst="ellipse">
            <a:avLst/>
          </a:prstGeom>
          <a:solidFill>
            <a:srgbClr val="F2994A"/>
          </a:solidFill>
          <a:ln>
            <a:noFill/>
          </a:ln>
        </p:spPr>
        <p:txBody>
          <a:bodyPr/>
          <a:lstStyle/>
          <a:p>
            <a:endParaRPr/>
          </a:p>
        </p:txBody>
      </p:sp>
      <p:sp>
        <p:nvSpPr>
          <p:cNvPr id="31" name="Circle31"/>
          <p:cNvSpPr/>
          <p:nvPr/>
        </p:nvSpPr>
        <p:spPr>
          <a:xfrm>
            <a:off x="4848983" y="1880000"/>
            <a:ext cx="420000" cy="420000"/>
          </a:xfrm>
          <a:prstGeom prst="ellipse">
            <a:avLst/>
          </a:prstGeom>
          <a:solidFill>
            <a:srgbClr val="0532B3"/>
          </a:solidFill>
          <a:ln>
            <a:noFill/>
          </a:ln>
        </p:spPr>
        <p:txBody>
          <a:bodyPr/>
          <a:lstStyle/>
          <a:p>
            <a:endParaRPr/>
          </a:p>
        </p:txBody>
      </p:sp>
      <p:sp>
        <p:nvSpPr>
          <p:cNvPr id="40" name="Text40"/>
          <p:cNvSpPr txBox="1"/>
          <p:nvPr/>
        </p:nvSpPr>
        <p:spPr>
          <a:xfrm>
            <a:off x="598983" y="1900000"/>
            <a:ext cx="60000" cy="380000"/>
          </a:xfrm>
          <a:prstGeom prst="rect">
            <a:avLst/>
          </a:prstGeom>
          <a:noFill/>
        </p:spPr>
        <p:txBody>
          <a:bodyPr wrap="square" lIns="0" tIns="0" rIns="0" bIns="0" anchor="ctr">
            <a:normAutofit/>
          </a:bodyPr>
          <a:lstStyle/>
          <a:p>
            <a:pPr algn="ctr"/>
            <a:r>
              <a:rPr lang="en-IN" sz="1800" b="1" i="0" dirty="0">
                <a:solidFill>
                  <a:srgbClr val="FFFFFF"/>
                </a:solidFill>
                <a:latin typeface="IBM Plex Sans SemiBold" panose="020B0503050203000203" pitchFamily="34" charset="0"/>
              </a:rPr>
              <a:t>!</a:t>
            </a:r>
          </a:p>
        </p:txBody>
      </p:sp>
      <p:sp>
        <p:nvSpPr>
          <p:cNvPr id="41" name="Text41"/>
          <p:cNvSpPr txBox="1"/>
          <p:nvPr/>
        </p:nvSpPr>
        <p:spPr>
          <a:xfrm>
            <a:off x="4848983" y="1900000"/>
            <a:ext cx="60000" cy="380000"/>
          </a:xfrm>
          <a:prstGeom prst="rect">
            <a:avLst/>
          </a:prstGeom>
          <a:noFill/>
        </p:spPr>
        <p:txBody>
          <a:bodyPr wrap="square" lIns="0" tIns="0" rIns="0" bIns="0" anchor="ctr">
            <a:normAutofit/>
          </a:bodyPr>
          <a:lstStyle/>
          <a:p>
            <a:pPr algn="ctr"/>
            <a:r>
              <a:rPr lang="en-IN" sz="1800" b="1" i="0" dirty="0">
                <a:solidFill>
                  <a:srgbClr val="FFFFFF"/>
                </a:solidFill>
                <a:latin typeface="IBM Plex Sans SemiBold" panose="020B0503050203000203" pitchFamily="34" charset="0"/>
              </a:rPr>
              <a:t>i</a:t>
            </a:r>
          </a:p>
        </p:txBody>
      </p:sp>
      <p:sp>
        <p:nvSpPr>
          <p:cNvPr id="50" name="Text50"/>
          <p:cNvSpPr txBox="1"/>
          <p:nvPr/>
        </p:nvSpPr>
        <p:spPr>
          <a:xfrm>
            <a:off x="598983" y="2390000"/>
            <a:ext cx="3590000" cy="400000"/>
          </a:xfrm>
          <a:prstGeom prst="rect">
            <a:avLst/>
          </a:prstGeom>
          <a:noFill/>
        </p:spPr>
        <p:txBody>
          <a:bodyPr wrap="square" lIns="0" tIns="0" rIns="0" bIns="0" anchor="t">
            <a:normAutofit/>
          </a:bodyPr>
          <a:lstStyle/>
          <a:p>
            <a:pPr algn="l"/>
            <a:r>
              <a:rPr lang="en-IN" sz="1600" b="1" i="0" dirty="0">
                <a:solidFill>
                  <a:srgbClr val="B85042"/>
                </a:solidFill>
                <a:latin typeface="IBM Plex Sans SemiBold" panose="020B0503050203000203" pitchFamily="34" charset="0"/>
              </a:rPr>
              <a:t>The Challenge Today</a:t>
            </a:r>
          </a:p>
        </p:txBody>
      </p:sp>
      <p:sp>
        <p:nvSpPr>
          <p:cNvPr id="51" name="Text51"/>
          <p:cNvSpPr txBox="1"/>
          <p:nvPr/>
        </p:nvSpPr>
        <p:spPr>
          <a:xfrm>
            <a:off x="4848983" y="23900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Our Approach</a:t>
            </a:r>
          </a:p>
        </p:txBody>
      </p:sp>
      <p:sp>
        <p:nvSpPr>
          <p:cNvPr id="60" name="Bullets60"/>
          <p:cNvSpPr txBox="1"/>
          <p:nvPr/>
        </p:nvSpPr>
        <p:spPr>
          <a:xfrm>
            <a:off x="598983" y="2900000"/>
            <a:ext cx="3590000" cy="1700000"/>
          </a:xfrm>
          <a:prstGeom prst="rect">
            <a:avLst/>
          </a:prstGeom>
          <a:noFill/>
        </p:spPr>
        <p:txBody>
          <a:bodyPr wrap="square" lIns="0" tIns="0" rIns="0" bIns="0">
            <a:normAutofit/>
          </a:bodyPr>
          <a:lstStyle/>
          <a:p>
            <a:pPr marL="228600" indent="-228600">
              <a:buClr>
                <a:srgbClr val="B85042"/>
              </a:buClr>
              <a:buFont typeface="Arial"/>
              <a:buChar char="▪"/>
            </a:pPr>
            <a:r>
              <a:rPr lang="en-IN" sz="1300" dirty="0">
                <a:solidFill>
                  <a:srgbClr val="333A47"/>
                </a:solidFill>
                <a:latin typeface="IBM Plex Sans" panose="020B0503050203000203" pitchFamily="34" charset="0"/>
              </a:rPr>
              <a:t>Employee data is buried in static spreadsheets</a:t>
            </a:r>
          </a:p>
          <a:p>
            <a:pPr marL="228600" indent="-228600">
              <a:buClr>
                <a:srgbClr val="B85042"/>
              </a:buClr>
              <a:buFont typeface="Arial"/>
              <a:buChar char="▪"/>
            </a:pPr>
            <a:r>
              <a:rPr lang="en-IN" sz="1300" dirty="0">
                <a:solidFill>
                  <a:srgbClr val="333A47"/>
                </a:solidFill>
                <a:latin typeface="IBM Plex Sans" panose="020B0503050203000203" pitchFamily="34" charset="0"/>
              </a:rPr>
              <a:t>Difficult to track performance or compare departments</a:t>
            </a:r>
          </a:p>
          <a:p>
            <a:pPr marL="228600" indent="-228600">
              <a:buClr>
                <a:srgbClr val="B85042"/>
              </a:buClr>
              <a:buFont typeface="Arial"/>
              <a:buChar char="▪"/>
            </a:pPr>
            <a:r>
              <a:rPr lang="en-IN" sz="1300" dirty="0">
                <a:solidFill>
                  <a:srgbClr val="333A47"/>
                </a:solidFill>
                <a:latin typeface="IBM Plex Sans" panose="020B0503050203000203" pitchFamily="34" charset="0"/>
              </a:rPr>
              <a:t>Hard to identify top performers and sales contributions</a:t>
            </a:r>
          </a:p>
          <a:p>
            <a:pPr marL="228600" indent="-228600">
              <a:buClr>
                <a:srgbClr val="B85042"/>
              </a:buClr>
              <a:buFont typeface="Arial"/>
              <a:buChar char="▪"/>
            </a:pPr>
            <a:r>
              <a:rPr lang="en-IN" sz="1300" dirty="0">
                <a:solidFill>
                  <a:srgbClr val="333A47"/>
                </a:solidFill>
                <a:latin typeface="IBM Plex Sans" panose="020B0503050203000203" pitchFamily="34" charset="0"/>
              </a:rPr>
              <a:t>Manual data review delays smart management choices</a:t>
            </a:r>
          </a:p>
        </p:txBody>
      </p:sp>
      <p:sp>
        <p:nvSpPr>
          <p:cNvPr id="70" name="Bullets70"/>
          <p:cNvSpPr txBox="1"/>
          <p:nvPr/>
        </p:nvSpPr>
        <p:spPr>
          <a:xfrm>
            <a:off x="4848983" y="2900000"/>
            <a:ext cx="3590000" cy="1700000"/>
          </a:xfrm>
          <a:prstGeom prst="rect">
            <a:avLst/>
          </a:prstGeom>
          <a:noFill/>
        </p:spPr>
        <p:txBody>
          <a:bodyPr wrap="square" lIns="0" tIns="0" rIns="0" bIns="0">
            <a:normAutofit/>
          </a:bodyPr>
          <a:lstStyle/>
          <a:p>
            <a:pPr marL="228600" indent="-228600">
              <a:buClr>
                <a:srgbClr val="0532B3"/>
              </a:buClr>
              <a:buFont typeface="Arial"/>
              <a:buChar char="▪"/>
            </a:pPr>
            <a:r>
              <a:rPr lang="en-IN" sz="1300" dirty="0">
                <a:solidFill>
                  <a:srgbClr val="333A47"/>
                </a:solidFill>
                <a:latin typeface="IBM Plex Sans" panose="020B0503050203000203" pitchFamily="34" charset="0"/>
              </a:rPr>
              <a:t>Prepared and structured raw data using Excel</a:t>
            </a:r>
          </a:p>
          <a:p>
            <a:pPr marL="228600" indent="-228600">
              <a:buClr>
                <a:srgbClr val="0532B3"/>
              </a:buClr>
              <a:buFont typeface="Arial"/>
              <a:buChar char="▪"/>
            </a:pPr>
            <a:r>
              <a:rPr lang="en-IN" sz="1300" dirty="0">
                <a:solidFill>
                  <a:srgbClr val="333A47"/>
                </a:solidFill>
                <a:latin typeface="IBM Plex Sans" panose="020B0503050203000203" pitchFamily="34" charset="0"/>
              </a:rPr>
              <a:t>Built an interactive Tableau dashboard</a:t>
            </a:r>
          </a:p>
          <a:p>
            <a:pPr marL="228600" indent="-228600">
              <a:buClr>
                <a:srgbClr val="0532B3"/>
              </a:buClr>
              <a:buFont typeface="Arial"/>
              <a:buChar char="▪"/>
            </a:pPr>
            <a:r>
              <a:rPr lang="en-IN" sz="1300" dirty="0">
                <a:solidFill>
                  <a:srgbClr val="333A47"/>
                </a:solidFill>
                <a:latin typeface="IBM Plex Sans" panose="020B0503050203000203" pitchFamily="34" charset="0"/>
              </a:rPr>
              <a:t>Used KPI cards, bar charts, and </a:t>
            </a:r>
            <a:r>
              <a:rPr lang="en-IN" sz="1300" dirty="0" err="1">
                <a:solidFill>
                  <a:srgbClr val="333A47"/>
                </a:solidFill>
                <a:latin typeface="IBM Plex Sans" panose="020B0503050203000203" pitchFamily="34" charset="0"/>
              </a:rPr>
              <a:t>treemaps</a:t>
            </a:r>
            <a:r>
              <a:rPr lang="en-IN" sz="1300" dirty="0">
                <a:solidFill>
                  <a:srgbClr val="333A47"/>
                </a:solidFill>
                <a:latin typeface="IBM Plex Sans" panose="020B0503050203000203" pitchFamily="34" charset="0"/>
              </a:rPr>
              <a:t> for visual clarity</a:t>
            </a:r>
          </a:p>
          <a:p>
            <a:pPr marL="228600" indent="-228600">
              <a:buClr>
                <a:srgbClr val="0532B3"/>
              </a:buClr>
              <a:buFont typeface="Arial"/>
              <a:buChar char="▪"/>
            </a:pPr>
            <a:r>
              <a:rPr lang="en-IN" sz="1300" dirty="0">
                <a:solidFill>
                  <a:srgbClr val="333A47"/>
                </a:solidFill>
                <a:latin typeface="IBM Plex Sans" panose="020B0503050203000203" pitchFamily="34" charset="0"/>
              </a:rPr>
              <a:t>Added department and location filters for fast analysis</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Project Objectives</a:t>
            </a:r>
          </a:p>
        </p:txBody>
      </p:sp>
      <p:sp>
        <p:nvSpPr>
          <p:cNvPr id="9" name="Subtitle"/>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What the dashboard is designed to achieve</a:t>
            </a:r>
          </a:p>
        </p:txBody>
      </p:sp>
      <p:sp>
        <p:nvSpPr>
          <p:cNvPr id="200" name="Circle200"/>
          <p:cNvSpPr/>
          <p:nvPr/>
        </p:nvSpPr>
        <p:spPr>
          <a:xfrm>
            <a:off x="368983" y="1660000"/>
            <a:ext cx="420000" cy="420000"/>
          </a:xfrm>
          <a:prstGeom prst="ellipse">
            <a:avLst/>
          </a:prstGeom>
          <a:solidFill>
            <a:srgbClr val="0532B3"/>
          </a:solidFill>
          <a:ln>
            <a:noFill/>
          </a:ln>
        </p:spPr>
        <p:txBody>
          <a:bodyPr/>
          <a:lstStyle/>
          <a:p>
            <a:endParaRPr/>
          </a:p>
        </p:txBody>
      </p:sp>
      <p:sp>
        <p:nvSpPr>
          <p:cNvPr id="300" name="Text300"/>
          <p:cNvSpPr txBox="1"/>
          <p:nvPr/>
        </p:nvSpPr>
        <p:spPr>
          <a:xfrm>
            <a:off x="368983" y="166000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SemiBold" panose="020B0503050203000203" pitchFamily="34" charset="0"/>
              </a:rPr>
              <a:t>1</a:t>
            </a:r>
          </a:p>
        </p:txBody>
      </p:sp>
      <p:sp>
        <p:nvSpPr>
          <p:cNvPr id="400" name="ObjText0"/>
          <p:cNvSpPr txBox="1"/>
          <p:nvPr/>
        </p:nvSpPr>
        <p:spPr>
          <a:xfrm>
            <a:off x="928983" y="165000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SemiBold" panose="020B0503050203000203" pitchFamily="34" charset="0"/>
              </a:rPr>
              <a:t>Interactive Analytics —  </a:t>
            </a:r>
            <a:r>
              <a:rPr lang="en-IN" sz="1300" dirty="0">
                <a:solidFill>
                  <a:srgbClr val="333A47"/>
                </a:solidFill>
                <a:latin typeface="IBM Plex Sans" panose="020B0503050203000203" pitchFamily="34" charset="0"/>
              </a:rPr>
              <a:t>Build a dynamic Employee Performance &amp; Sales Dashboard in Tableau.</a:t>
            </a:r>
          </a:p>
        </p:txBody>
      </p:sp>
      <p:sp>
        <p:nvSpPr>
          <p:cNvPr id="201" name="Circle201"/>
          <p:cNvSpPr/>
          <p:nvPr/>
        </p:nvSpPr>
        <p:spPr>
          <a:xfrm>
            <a:off x="368983" y="2280000"/>
            <a:ext cx="420000" cy="420000"/>
          </a:xfrm>
          <a:prstGeom prst="ellipse">
            <a:avLst/>
          </a:prstGeom>
          <a:solidFill>
            <a:srgbClr val="0532B3"/>
          </a:solidFill>
          <a:ln>
            <a:noFill/>
          </a:ln>
        </p:spPr>
        <p:txBody>
          <a:bodyPr/>
          <a:lstStyle/>
          <a:p>
            <a:endParaRPr/>
          </a:p>
        </p:txBody>
      </p:sp>
      <p:sp>
        <p:nvSpPr>
          <p:cNvPr id="301" name="Text301"/>
          <p:cNvSpPr txBox="1"/>
          <p:nvPr/>
        </p:nvSpPr>
        <p:spPr>
          <a:xfrm>
            <a:off x="368983" y="228000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SemiBold" panose="020B0503050203000203" pitchFamily="34" charset="0"/>
              </a:rPr>
              <a:t>2</a:t>
            </a:r>
          </a:p>
        </p:txBody>
      </p:sp>
      <p:sp>
        <p:nvSpPr>
          <p:cNvPr id="401" name="ObjText1"/>
          <p:cNvSpPr txBox="1"/>
          <p:nvPr/>
        </p:nvSpPr>
        <p:spPr>
          <a:xfrm>
            <a:off x="928983" y="227000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SemiBold" panose="020B0503050203000203" pitchFamily="34" charset="0"/>
              </a:rPr>
              <a:t>Performance Insights —  </a:t>
            </a:r>
            <a:r>
              <a:rPr lang="en-IN" sz="1300" dirty="0" err="1">
                <a:solidFill>
                  <a:srgbClr val="333A47"/>
                </a:solidFill>
                <a:latin typeface="IBM Plex Sans" panose="020B0503050203000203" pitchFamily="34" charset="0"/>
              </a:rPr>
              <a:t>Analyze</a:t>
            </a:r>
            <a:r>
              <a:rPr lang="en-IN" sz="1300" dirty="0">
                <a:solidFill>
                  <a:srgbClr val="333A47"/>
                </a:solidFill>
                <a:latin typeface="IBM Plex Sans" panose="020B0503050203000203" pitchFamily="34" charset="0"/>
              </a:rPr>
              <a:t> department-wise salary structures and overall sales performance.</a:t>
            </a:r>
          </a:p>
        </p:txBody>
      </p:sp>
      <p:sp>
        <p:nvSpPr>
          <p:cNvPr id="202" name="Circle202"/>
          <p:cNvSpPr/>
          <p:nvPr/>
        </p:nvSpPr>
        <p:spPr>
          <a:xfrm>
            <a:off x="368983" y="2900000"/>
            <a:ext cx="420000" cy="420000"/>
          </a:xfrm>
          <a:prstGeom prst="ellipse">
            <a:avLst/>
          </a:prstGeom>
          <a:solidFill>
            <a:srgbClr val="0532B3"/>
          </a:solidFill>
          <a:ln>
            <a:noFill/>
          </a:ln>
        </p:spPr>
        <p:txBody>
          <a:bodyPr/>
          <a:lstStyle/>
          <a:p>
            <a:endParaRPr/>
          </a:p>
        </p:txBody>
      </p:sp>
      <p:sp>
        <p:nvSpPr>
          <p:cNvPr id="302" name="Text302"/>
          <p:cNvSpPr txBox="1"/>
          <p:nvPr/>
        </p:nvSpPr>
        <p:spPr>
          <a:xfrm>
            <a:off x="368983" y="290000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SemiBold" panose="020B0503050203000203" pitchFamily="34" charset="0"/>
              </a:rPr>
              <a:t>3</a:t>
            </a:r>
          </a:p>
        </p:txBody>
      </p:sp>
      <p:sp>
        <p:nvSpPr>
          <p:cNvPr id="402" name="ObjText2"/>
          <p:cNvSpPr txBox="1"/>
          <p:nvPr/>
        </p:nvSpPr>
        <p:spPr>
          <a:xfrm>
            <a:off x="928983" y="289000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SemiBold" panose="020B0503050203000203" pitchFamily="34" charset="0"/>
              </a:rPr>
              <a:t>Identify Key Talent  —  </a:t>
            </a:r>
            <a:r>
              <a:rPr lang="en-IN" sz="1300" dirty="0">
                <a:solidFill>
                  <a:srgbClr val="333A47"/>
                </a:solidFill>
                <a:latin typeface="IBM Plex Sans" panose="020B0503050203000203" pitchFamily="34" charset="0"/>
              </a:rPr>
              <a:t>Spot top-performing employees based on sales and compensation metrics.</a:t>
            </a:r>
          </a:p>
        </p:txBody>
      </p:sp>
      <p:sp>
        <p:nvSpPr>
          <p:cNvPr id="203" name="Circle203"/>
          <p:cNvSpPr/>
          <p:nvPr/>
        </p:nvSpPr>
        <p:spPr>
          <a:xfrm>
            <a:off x="368983" y="3520000"/>
            <a:ext cx="420000" cy="420000"/>
          </a:xfrm>
          <a:prstGeom prst="ellipse">
            <a:avLst/>
          </a:prstGeom>
          <a:solidFill>
            <a:srgbClr val="0532B3"/>
          </a:solidFill>
          <a:ln>
            <a:noFill/>
          </a:ln>
        </p:spPr>
        <p:txBody>
          <a:bodyPr/>
          <a:lstStyle/>
          <a:p>
            <a:endParaRPr/>
          </a:p>
        </p:txBody>
      </p:sp>
      <p:sp>
        <p:nvSpPr>
          <p:cNvPr id="303" name="Text303"/>
          <p:cNvSpPr txBox="1"/>
          <p:nvPr/>
        </p:nvSpPr>
        <p:spPr>
          <a:xfrm>
            <a:off x="368983" y="352000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SemiBold" panose="020B0503050203000203" pitchFamily="34" charset="0"/>
              </a:rPr>
              <a:t>4</a:t>
            </a:r>
          </a:p>
        </p:txBody>
      </p:sp>
      <p:sp>
        <p:nvSpPr>
          <p:cNvPr id="403" name="ObjText3"/>
          <p:cNvSpPr txBox="1"/>
          <p:nvPr/>
        </p:nvSpPr>
        <p:spPr>
          <a:xfrm>
            <a:off x="928983" y="351000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SemiBold" panose="020B0503050203000203" pitchFamily="34" charset="0"/>
              </a:rPr>
              <a:t>Visualizing Demographics —  </a:t>
            </a:r>
            <a:r>
              <a:rPr lang="en-IN" sz="1300" dirty="0">
                <a:solidFill>
                  <a:srgbClr val="333A47"/>
                </a:solidFill>
                <a:latin typeface="IBM Plex Sans" panose="020B0503050203000203" pitchFamily="34" charset="0"/>
              </a:rPr>
              <a:t>Map out employee distribution clearly across different departments.</a:t>
            </a:r>
          </a:p>
        </p:txBody>
      </p:sp>
      <p:sp>
        <p:nvSpPr>
          <p:cNvPr id="204" name="Circle204"/>
          <p:cNvSpPr/>
          <p:nvPr/>
        </p:nvSpPr>
        <p:spPr>
          <a:xfrm>
            <a:off x="368983" y="4140000"/>
            <a:ext cx="420000" cy="420000"/>
          </a:xfrm>
          <a:prstGeom prst="ellipse">
            <a:avLst/>
          </a:prstGeom>
          <a:solidFill>
            <a:srgbClr val="0532B3"/>
          </a:solidFill>
          <a:ln>
            <a:noFill/>
          </a:ln>
        </p:spPr>
        <p:txBody>
          <a:bodyPr/>
          <a:lstStyle/>
          <a:p>
            <a:endParaRPr/>
          </a:p>
        </p:txBody>
      </p:sp>
      <p:sp>
        <p:nvSpPr>
          <p:cNvPr id="304" name="Text304"/>
          <p:cNvSpPr txBox="1"/>
          <p:nvPr/>
        </p:nvSpPr>
        <p:spPr>
          <a:xfrm>
            <a:off x="368983" y="414000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SemiBold" panose="020B0503050203000203" pitchFamily="34" charset="0"/>
              </a:rPr>
              <a:t>5</a:t>
            </a:r>
          </a:p>
        </p:txBody>
      </p:sp>
      <p:sp>
        <p:nvSpPr>
          <p:cNvPr id="404" name="ObjText4"/>
          <p:cNvSpPr txBox="1"/>
          <p:nvPr/>
        </p:nvSpPr>
        <p:spPr>
          <a:xfrm>
            <a:off x="928983" y="413000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SemiBold" panose="020B0503050203000203" pitchFamily="34" charset="0"/>
              </a:rPr>
              <a:t>Dynamic Exploration —  </a:t>
            </a:r>
            <a:r>
              <a:rPr lang="en-IN" sz="1300" dirty="0">
                <a:solidFill>
                  <a:srgbClr val="333A47"/>
                </a:solidFill>
                <a:latin typeface="IBM Plex Sans" panose="020B0503050203000203" pitchFamily="34" charset="0"/>
              </a:rPr>
              <a:t>Enable quick filtering by department and location for targeted decision-making.</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Dataset Description</a:t>
            </a:r>
          </a:p>
        </p:txBody>
      </p:sp>
      <p:sp>
        <p:nvSpPr>
          <p:cNvPr id="9" name="Subtitle"/>
          <p:cNvSpPr txBox="1"/>
          <p:nvPr/>
        </p:nvSpPr>
        <p:spPr>
          <a:xfrm>
            <a:off x="368983" y="1130000"/>
            <a:ext cx="79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Employee Performance &amp; Sales datasets powering the dashboard</a:t>
            </a:r>
          </a:p>
        </p:txBody>
      </p:sp>
      <p:sp>
        <p:nvSpPr>
          <p:cNvPr id="20" name="Rect20"/>
          <p:cNvSpPr/>
          <p:nvPr/>
        </p:nvSpPr>
        <p:spPr>
          <a:xfrm>
            <a:off x="700000" y="1750000"/>
            <a:ext cx="7744034" cy="1250000"/>
          </a:xfrm>
          <a:prstGeom prst="rect">
            <a:avLst/>
          </a:prstGeom>
          <a:solidFill>
            <a:srgbClr val="EDF1FC"/>
          </a:solidFill>
          <a:ln>
            <a:noFill/>
          </a:ln>
        </p:spPr>
        <p:txBody>
          <a:bodyPr/>
          <a:lstStyle/>
          <a:p>
            <a:endParaRPr/>
          </a:p>
        </p:txBody>
      </p:sp>
      <p:sp>
        <p:nvSpPr>
          <p:cNvPr id="30" name="Text30"/>
          <p:cNvSpPr txBox="1"/>
          <p:nvPr/>
        </p:nvSpPr>
        <p:spPr>
          <a:xfrm>
            <a:off x="1050000" y="1930000"/>
            <a:ext cx="7044034" cy="890000"/>
          </a:xfrm>
          <a:prstGeom prst="rect">
            <a:avLst/>
          </a:prstGeom>
          <a:noFill/>
        </p:spPr>
        <p:txBody>
          <a:bodyPr wrap="square" lIns="0" tIns="0" rIns="0" bIns="0" anchor="ctr">
            <a:normAutofit/>
          </a:bodyPr>
          <a:lstStyle/>
          <a:p>
            <a:pPr algn="ctr"/>
            <a:r>
              <a:rPr lang="en-IN" sz="1700" b="1" i="1" dirty="0">
                <a:solidFill>
                  <a:srgbClr val="0532B3"/>
                </a:solidFill>
                <a:latin typeface="IBM Plex Sans SemiBold" panose="020B0503050203000203" pitchFamily="34" charset="0"/>
              </a:rPr>
              <a:t>“Employee Performance, Compensation, and Sales Analytics Dataset”</a:t>
            </a:r>
          </a:p>
        </p:txBody>
      </p:sp>
      <p:sp>
        <p:nvSpPr>
          <p:cNvPr id="40" name="Rect40"/>
          <p:cNvSpPr/>
          <p:nvPr/>
        </p:nvSpPr>
        <p:spPr>
          <a:xfrm>
            <a:off x="700000" y="3250000"/>
            <a:ext cx="2448011" cy="700000"/>
          </a:xfrm>
          <a:prstGeom prst="rect">
            <a:avLst/>
          </a:prstGeom>
          <a:solidFill>
            <a:srgbClr val="F4F6FB"/>
          </a:solidFill>
          <a:ln>
            <a:noFill/>
          </a:ln>
        </p:spPr>
        <p:txBody>
          <a:bodyPr/>
          <a:lstStyle/>
          <a:p>
            <a:endParaRPr/>
          </a:p>
        </p:txBody>
      </p:sp>
      <p:sp>
        <p:nvSpPr>
          <p:cNvPr id="50" name="Text50"/>
          <p:cNvSpPr txBox="1"/>
          <p:nvPr/>
        </p:nvSpPr>
        <p:spPr>
          <a:xfrm>
            <a:off x="850000" y="3340000"/>
            <a:ext cx="2148011" cy="280000"/>
          </a:xfrm>
          <a:prstGeom prst="rect">
            <a:avLst/>
          </a:prstGeom>
          <a:noFill/>
        </p:spPr>
        <p:txBody>
          <a:bodyPr wrap="square" lIns="0" tIns="0" rIns="0" bIns="0" anchor="t">
            <a:normAutofit/>
          </a:bodyPr>
          <a:lstStyle/>
          <a:p>
            <a:pPr algn="l"/>
            <a:r>
              <a:rPr lang="en-IN" sz="950" b="1" i="0" dirty="0">
                <a:solidFill>
                  <a:srgbClr val="F2994A"/>
                </a:solidFill>
                <a:latin typeface="IBM Plex Sans SemiBold" panose="020B0503050203000203" pitchFamily="34" charset="0"/>
              </a:rPr>
              <a:t>SOURCE</a:t>
            </a:r>
          </a:p>
        </p:txBody>
      </p:sp>
      <p:sp>
        <p:nvSpPr>
          <p:cNvPr id="60" name="Text60"/>
          <p:cNvSpPr txBox="1"/>
          <p:nvPr/>
        </p:nvSpPr>
        <p:spPr>
          <a:xfrm>
            <a:off x="850000" y="3590000"/>
            <a:ext cx="2148011" cy="320000"/>
          </a:xfrm>
          <a:prstGeom prst="rect">
            <a:avLst/>
          </a:prstGeom>
          <a:noFill/>
        </p:spPr>
        <p:txBody>
          <a:bodyPr wrap="square" lIns="0" tIns="0" rIns="0" bIns="0" anchor="t">
            <a:normAutofit lnSpcReduction="10000"/>
          </a:bodyPr>
          <a:lstStyle/>
          <a:p>
            <a:pPr algn="l"/>
            <a:r>
              <a:rPr lang="en-IN" sz="1150" b="1" dirty="0">
                <a:solidFill>
                  <a:srgbClr val="1B1E29"/>
                </a:solidFill>
                <a:latin typeface="IBM Plex Sans SemiBold" panose="020B0503050203000203" pitchFamily="34" charset="0"/>
              </a:rPr>
              <a:t>Microsoft Excel / Raw Employee Records</a:t>
            </a:r>
            <a:endParaRPr lang="en-IN" sz="1150" b="1" i="0" dirty="0">
              <a:solidFill>
                <a:srgbClr val="1B1E29"/>
              </a:solidFill>
              <a:latin typeface="IBM Plex Sans SemiBold" panose="020B0503050203000203" pitchFamily="34" charset="0"/>
            </a:endParaRPr>
          </a:p>
        </p:txBody>
      </p:sp>
      <p:sp>
        <p:nvSpPr>
          <p:cNvPr id="41" name="Rect41"/>
          <p:cNvSpPr/>
          <p:nvPr/>
        </p:nvSpPr>
        <p:spPr>
          <a:xfrm>
            <a:off x="3248011" y="3250000"/>
            <a:ext cx="2448011" cy="700000"/>
          </a:xfrm>
          <a:prstGeom prst="rect">
            <a:avLst/>
          </a:prstGeom>
          <a:solidFill>
            <a:srgbClr val="F4F6FB"/>
          </a:solidFill>
          <a:ln>
            <a:noFill/>
          </a:ln>
        </p:spPr>
        <p:txBody>
          <a:bodyPr/>
          <a:lstStyle/>
          <a:p>
            <a:endParaRPr/>
          </a:p>
        </p:txBody>
      </p:sp>
      <p:sp>
        <p:nvSpPr>
          <p:cNvPr id="51" name="Text51"/>
          <p:cNvSpPr txBox="1"/>
          <p:nvPr/>
        </p:nvSpPr>
        <p:spPr>
          <a:xfrm>
            <a:off x="3398011" y="3340000"/>
            <a:ext cx="2148011" cy="280000"/>
          </a:xfrm>
          <a:prstGeom prst="rect">
            <a:avLst/>
          </a:prstGeom>
          <a:noFill/>
        </p:spPr>
        <p:txBody>
          <a:bodyPr wrap="square" lIns="0" tIns="0" rIns="0" bIns="0" anchor="t">
            <a:normAutofit/>
          </a:bodyPr>
          <a:lstStyle/>
          <a:p>
            <a:pPr algn="l"/>
            <a:r>
              <a:rPr lang="en-IN" sz="950" b="1" i="0" dirty="0">
                <a:solidFill>
                  <a:srgbClr val="F2994A"/>
                </a:solidFill>
                <a:latin typeface="IBM Plex Sans SemiBold" panose="020B0503050203000203" pitchFamily="34" charset="0"/>
              </a:rPr>
              <a:t>COVERAGE</a:t>
            </a:r>
          </a:p>
        </p:txBody>
      </p:sp>
      <p:sp>
        <p:nvSpPr>
          <p:cNvPr id="61" name="Text61"/>
          <p:cNvSpPr txBox="1"/>
          <p:nvPr/>
        </p:nvSpPr>
        <p:spPr>
          <a:xfrm>
            <a:off x="3398011" y="3590000"/>
            <a:ext cx="2148011" cy="320000"/>
          </a:xfrm>
          <a:prstGeom prst="rect">
            <a:avLst/>
          </a:prstGeom>
          <a:noFill/>
        </p:spPr>
        <p:txBody>
          <a:bodyPr wrap="square" lIns="0" tIns="0" rIns="0" bIns="0" anchor="t">
            <a:normAutofit lnSpcReduction="10000"/>
          </a:bodyPr>
          <a:lstStyle/>
          <a:p>
            <a:pPr algn="l"/>
            <a:r>
              <a:rPr lang="en-IN" sz="1150" b="1" i="0" dirty="0">
                <a:solidFill>
                  <a:srgbClr val="1B1E29"/>
                </a:solidFill>
                <a:latin typeface="IBM Plex Sans SemiBold" panose="020B0503050203000203" pitchFamily="34" charset="0"/>
              </a:rPr>
              <a:t>Employee Performance &amp; Department Level</a:t>
            </a:r>
          </a:p>
        </p:txBody>
      </p:sp>
      <p:sp>
        <p:nvSpPr>
          <p:cNvPr id="42" name="Rect42"/>
          <p:cNvSpPr/>
          <p:nvPr/>
        </p:nvSpPr>
        <p:spPr>
          <a:xfrm>
            <a:off x="5796022" y="3250000"/>
            <a:ext cx="2448011" cy="700000"/>
          </a:xfrm>
          <a:prstGeom prst="rect">
            <a:avLst/>
          </a:prstGeom>
          <a:solidFill>
            <a:srgbClr val="F4F6FB"/>
          </a:solidFill>
          <a:ln>
            <a:noFill/>
          </a:ln>
        </p:spPr>
        <p:txBody>
          <a:bodyPr/>
          <a:lstStyle/>
          <a:p>
            <a:endParaRPr/>
          </a:p>
        </p:txBody>
      </p:sp>
      <p:sp>
        <p:nvSpPr>
          <p:cNvPr id="52" name="Text52"/>
          <p:cNvSpPr txBox="1"/>
          <p:nvPr/>
        </p:nvSpPr>
        <p:spPr>
          <a:xfrm>
            <a:off x="5946022" y="3340000"/>
            <a:ext cx="2148011" cy="280000"/>
          </a:xfrm>
          <a:prstGeom prst="rect">
            <a:avLst/>
          </a:prstGeom>
          <a:noFill/>
        </p:spPr>
        <p:txBody>
          <a:bodyPr wrap="square" lIns="0" tIns="0" rIns="0" bIns="0" anchor="t">
            <a:normAutofit/>
          </a:bodyPr>
          <a:lstStyle/>
          <a:p>
            <a:pPr algn="l"/>
            <a:r>
              <a:rPr lang="en-IN" sz="950" b="1" i="0" dirty="0">
                <a:solidFill>
                  <a:srgbClr val="F2994A"/>
                </a:solidFill>
                <a:latin typeface="IBM Plex Sans SemiBold" panose="020B0503050203000203" pitchFamily="34" charset="0"/>
              </a:rPr>
              <a:t>FORMAT</a:t>
            </a:r>
          </a:p>
        </p:txBody>
      </p:sp>
      <p:sp>
        <p:nvSpPr>
          <p:cNvPr id="62" name="Text62"/>
          <p:cNvSpPr txBox="1"/>
          <p:nvPr/>
        </p:nvSpPr>
        <p:spPr>
          <a:xfrm>
            <a:off x="5946022" y="3590000"/>
            <a:ext cx="2148011" cy="320000"/>
          </a:xfrm>
          <a:prstGeom prst="rect">
            <a:avLst/>
          </a:prstGeom>
          <a:noFill/>
        </p:spPr>
        <p:txBody>
          <a:bodyPr wrap="square" lIns="0" tIns="0" rIns="0" bIns="0" anchor="t">
            <a:normAutofit/>
          </a:bodyPr>
          <a:lstStyle/>
          <a:p>
            <a:pPr algn="l"/>
            <a:r>
              <a:rPr lang="en-IN" sz="1150" b="1" i="0" dirty="0">
                <a:solidFill>
                  <a:srgbClr val="1B1E29"/>
                </a:solidFill>
                <a:latin typeface="IBM Plex Sans SemiBold" panose="020B0503050203000203" pitchFamily="34" charset="0"/>
              </a:rPr>
              <a:t>Structured Tabular </a:t>
            </a:r>
            <a:r>
              <a:rPr lang="en-IN" sz="1150" b="1" dirty="0">
                <a:solidFill>
                  <a:srgbClr val="1B1E29"/>
                </a:solidFill>
                <a:latin typeface="IBM Plex Sans SemiBold" panose="020B0503050203000203" pitchFamily="34" charset="0"/>
              </a:rPr>
              <a:t>D</a:t>
            </a:r>
            <a:r>
              <a:rPr lang="en-IN" sz="1150" b="1" i="0" dirty="0">
                <a:solidFill>
                  <a:srgbClr val="1B1E29"/>
                </a:solidFill>
                <a:latin typeface="IBM Plex Sans SemiBold" panose="020B0503050203000203" pitchFamily="34" charset="0"/>
              </a:rPr>
              <a:t>ata</a:t>
            </a:r>
          </a:p>
        </p:txBody>
      </p:sp>
      <p:sp>
        <p:nvSpPr>
          <p:cNvPr id="70" name="Text70"/>
          <p:cNvSpPr txBox="1"/>
          <p:nvPr/>
        </p:nvSpPr>
        <p:spPr>
          <a:xfrm>
            <a:off x="368983" y="4150000"/>
            <a:ext cx="8406034" cy="700000"/>
          </a:xfrm>
          <a:prstGeom prst="rect">
            <a:avLst/>
          </a:prstGeom>
          <a:noFill/>
        </p:spPr>
        <p:txBody>
          <a:bodyPr wrap="square" lIns="0" tIns="0" rIns="0" bIns="0" anchor="t">
            <a:normAutofit/>
          </a:bodyPr>
          <a:lstStyle/>
          <a:p>
            <a:pPr algn="l"/>
            <a:r>
              <a:rPr lang="en-IN" sz="1250" b="0" i="0" dirty="0">
                <a:solidFill>
                  <a:srgbClr val="333A47"/>
                </a:solidFill>
                <a:latin typeface="IBM Plex Sans" panose="020B0503050203000203" pitchFamily="34" charset="0"/>
              </a:rPr>
              <a:t>The dataset offers a comprehensive overview of employee performance and sales outcomes capturing key metrics such as Employee ID, Name, Department, Location, Salary, Performance Rating, Bonus Percentage, Total Compensation, and Total Sales across different organization levels.</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Dataset Variables</a:t>
            </a:r>
          </a:p>
        </p:txBody>
      </p:sp>
      <p:sp>
        <p:nvSpPr>
          <p:cNvPr id="9" name="Subtitle"/>
          <p:cNvSpPr txBox="1"/>
          <p:nvPr/>
        </p:nvSpPr>
        <p:spPr>
          <a:xfrm>
            <a:off x="368983" y="1130000"/>
            <a:ext cx="79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Key fields captured for every employee across departments and locations</a:t>
            </a:r>
          </a:p>
        </p:txBody>
      </p:sp>
      <p:sp>
        <p:nvSpPr>
          <p:cNvPr id="20" name="Rect20"/>
          <p:cNvSpPr/>
          <p:nvPr/>
        </p:nvSpPr>
        <p:spPr>
          <a:xfrm>
            <a:off x="368983" y="1700000"/>
            <a:ext cx="1996000" cy="780000"/>
          </a:xfrm>
          <a:prstGeom prst="rect">
            <a:avLst/>
          </a:prstGeom>
          <a:solidFill>
            <a:srgbClr val="F4F6FB"/>
          </a:solidFill>
          <a:ln>
            <a:noFill/>
          </a:ln>
        </p:spPr>
        <p:txBody>
          <a:bodyPr/>
          <a:lstStyle/>
          <a:p>
            <a:endParaRPr/>
          </a:p>
        </p:txBody>
      </p:sp>
      <p:sp>
        <p:nvSpPr>
          <p:cNvPr id="60" name="Circle60"/>
          <p:cNvSpPr/>
          <p:nvPr/>
        </p:nvSpPr>
        <p:spPr>
          <a:xfrm>
            <a:off x="508983" y="0"/>
            <a:ext cx="140000" cy="140000"/>
          </a:xfrm>
          <a:prstGeom prst="ellipse">
            <a:avLst/>
          </a:prstGeom>
          <a:solidFill>
            <a:srgbClr val="0532B3"/>
          </a:solidFill>
          <a:ln>
            <a:noFill/>
          </a:ln>
        </p:spPr>
        <p:txBody>
          <a:bodyPr/>
          <a:lstStyle/>
          <a:p>
            <a:endParaRPr/>
          </a:p>
        </p:txBody>
      </p:sp>
      <p:sp>
        <p:nvSpPr>
          <p:cNvPr id="100" name="Text100"/>
          <p:cNvSpPr txBox="1"/>
          <p:nvPr/>
        </p:nvSpPr>
        <p:spPr>
          <a:xfrm>
            <a:off x="698983" y="1700000"/>
            <a:ext cx="1616000" cy="780000"/>
          </a:xfrm>
          <a:prstGeom prst="rect">
            <a:avLst/>
          </a:prstGeom>
          <a:noFill/>
        </p:spPr>
        <p:txBody>
          <a:bodyPr wrap="square" lIns="0" tIns="0" rIns="0" bIns="0" anchor="ctr">
            <a:normAutofit/>
          </a:bodyPr>
          <a:lstStyle/>
          <a:p>
            <a:pPr algn="l"/>
            <a:r>
              <a:rPr lang="en-IN" sz="1150" b="1" dirty="0">
                <a:solidFill>
                  <a:srgbClr val="1B1E29"/>
                </a:solidFill>
                <a:latin typeface="IBM Plex Sans SemiBold" panose="020B0503050203000203" pitchFamily="34" charset="0"/>
              </a:rPr>
              <a:t>Employee ID &amp; Name</a:t>
            </a:r>
            <a:endParaRPr lang="en-IN" sz="1150" b="1" i="0" dirty="0">
              <a:solidFill>
                <a:srgbClr val="1B1E29"/>
              </a:solidFill>
              <a:latin typeface="IBM Plex Sans SemiBold" panose="020B0503050203000203" pitchFamily="34" charset="0"/>
            </a:endParaRPr>
          </a:p>
        </p:txBody>
      </p:sp>
      <p:sp>
        <p:nvSpPr>
          <p:cNvPr id="21" name="Rect21"/>
          <p:cNvSpPr/>
          <p:nvPr/>
        </p:nvSpPr>
        <p:spPr>
          <a:xfrm>
            <a:off x="2442983" y="1700000"/>
            <a:ext cx="1996000" cy="780000"/>
          </a:xfrm>
          <a:prstGeom prst="rect">
            <a:avLst/>
          </a:prstGeom>
          <a:solidFill>
            <a:srgbClr val="F4F6FB"/>
          </a:solidFill>
          <a:ln>
            <a:noFill/>
          </a:ln>
        </p:spPr>
        <p:txBody>
          <a:bodyPr/>
          <a:lstStyle/>
          <a:p>
            <a:endParaRPr/>
          </a:p>
        </p:txBody>
      </p:sp>
      <p:sp>
        <p:nvSpPr>
          <p:cNvPr id="61" name="Circle61"/>
          <p:cNvSpPr/>
          <p:nvPr/>
        </p:nvSpPr>
        <p:spPr>
          <a:xfrm>
            <a:off x="2582983" y="0"/>
            <a:ext cx="140000" cy="140000"/>
          </a:xfrm>
          <a:prstGeom prst="ellipse">
            <a:avLst/>
          </a:prstGeom>
          <a:solidFill>
            <a:srgbClr val="0532B3"/>
          </a:solidFill>
          <a:ln>
            <a:noFill/>
          </a:ln>
        </p:spPr>
        <p:txBody>
          <a:bodyPr/>
          <a:lstStyle/>
          <a:p>
            <a:endParaRPr/>
          </a:p>
        </p:txBody>
      </p:sp>
      <p:sp>
        <p:nvSpPr>
          <p:cNvPr id="101" name="Text101"/>
          <p:cNvSpPr txBox="1"/>
          <p:nvPr/>
        </p:nvSpPr>
        <p:spPr>
          <a:xfrm>
            <a:off x="2772983" y="170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Department</a:t>
            </a:r>
          </a:p>
        </p:txBody>
      </p:sp>
      <p:sp>
        <p:nvSpPr>
          <p:cNvPr id="22" name="Rect22"/>
          <p:cNvSpPr/>
          <p:nvPr/>
        </p:nvSpPr>
        <p:spPr>
          <a:xfrm>
            <a:off x="4516983" y="1700000"/>
            <a:ext cx="1996000" cy="780000"/>
          </a:xfrm>
          <a:prstGeom prst="rect">
            <a:avLst/>
          </a:prstGeom>
          <a:solidFill>
            <a:srgbClr val="F4F6FB"/>
          </a:solidFill>
          <a:ln>
            <a:noFill/>
          </a:ln>
        </p:spPr>
        <p:txBody>
          <a:bodyPr/>
          <a:lstStyle/>
          <a:p>
            <a:endParaRPr/>
          </a:p>
        </p:txBody>
      </p:sp>
      <p:sp>
        <p:nvSpPr>
          <p:cNvPr id="62" name="Circle62"/>
          <p:cNvSpPr/>
          <p:nvPr/>
        </p:nvSpPr>
        <p:spPr>
          <a:xfrm>
            <a:off x="4656983" y="0"/>
            <a:ext cx="140000" cy="140000"/>
          </a:xfrm>
          <a:prstGeom prst="ellipse">
            <a:avLst/>
          </a:prstGeom>
          <a:solidFill>
            <a:srgbClr val="0532B3"/>
          </a:solidFill>
          <a:ln>
            <a:noFill/>
          </a:ln>
        </p:spPr>
        <p:txBody>
          <a:bodyPr/>
          <a:lstStyle/>
          <a:p>
            <a:endParaRPr/>
          </a:p>
        </p:txBody>
      </p:sp>
      <p:sp>
        <p:nvSpPr>
          <p:cNvPr id="102" name="Text102"/>
          <p:cNvSpPr txBox="1"/>
          <p:nvPr/>
        </p:nvSpPr>
        <p:spPr>
          <a:xfrm>
            <a:off x="4846983" y="170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Location</a:t>
            </a:r>
          </a:p>
        </p:txBody>
      </p:sp>
      <p:sp>
        <p:nvSpPr>
          <p:cNvPr id="63" name="Circle63"/>
          <p:cNvSpPr/>
          <p:nvPr/>
        </p:nvSpPr>
        <p:spPr>
          <a:xfrm>
            <a:off x="6730983" y="0"/>
            <a:ext cx="140000" cy="140000"/>
          </a:xfrm>
          <a:prstGeom prst="ellipse">
            <a:avLst/>
          </a:prstGeom>
          <a:solidFill>
            <a:srgbClr val="0532B3"/>
          </a:solidFill>
          <a:ln>
            <a:noFill/>
          </a:ln>
        </p:spPr>
        <p:txBody>
          <a:bodyPr/>
          <a:lstStyle/>
          <a:p>
            <a:endParaRPr/>
          </a:p>
        </p:txBody>
      </p:sp>
      <p:sp>
        <p:nvSpPr>
          <p:cNvPr id="24" name="Rect24"/>
          <p:cNvSpPr/>
          <p:nvPr/>
        </p:nvSpPr>
        <p:spPr>
          <a:xfrm>
            <a:off x="368983" y="2610000"/>
            <a:ext cx="1996000" cy="780000"/>
          </a:xfrm>
          <a:prstGeom prst="rect">
            <a:avLst/>
          </a:prstGeom>
          <a:solidFill>
            <a:srgbClr val="F4F6FB"/>
          </a:solidFill>
          <a:ln>
            <a:noFill/>
          </a:ln>
        </p:spPr>
        <p:txBody>
          <a:bodyPr/>
          <a:lstStyle/>
          <a:p>
            <a:endParaRPr/>
          </a:p>
        </p:txBody>
      </p:sp>
      <p:sp>
        <p:nvSpPr>
          <p:cNvPr id="64" name="Circle64"/>
          <p:cNvSpPr/>
          <p:nvPr/>
        </p:nvSpPr>
        <p:spPr>
          <a:xfrm>
            <a:off x="508983" y="0"/>
            <a:ext cx="140000" cy="140000"/>
          </a:xfrm>
          <a:prstGeom prst="ellipse">
            <a:avLst/>
          </a:prstGeom>
          <a:solidFill>
            <a:srgbClr val="0532B3"/>
          </a:solidFill>
          <a:ln>
            <a:noFill/>
          </a:ln>
        </p:spPr>
        <p:txBody>
          <a:bodyPr/>
          <a:lstStyle/>
          <a:p>
            <a:endParaRPr/>
          </a:p>
        </p:txBody>
      </p:sp>
      <p:sp>
        <p:nvSpPr>
          <p:cNvPr id="104" name="Text104"/>
          <p:cNvSpPr txBox="1"/>
          <p:nvPr/>
        </p:nvSpPr>
        <p:spPr>
          <a:xfrm>
            <a:off x="698983" y="261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Salary</a:t>
            </a:r>
          </a:p>
        </p:txBody>
      </p:sp>
      <p:sp>
        <p:nvSpPr>
          <p:cNvPr id="25" name="Rect25"/>
          <p:cNvSpPr/>
          <p:nvPr/>
        </p:nvSpPr>
        <p:spPr>
          <a:xfrm>
            <a:off x="2442983" y="2610000"/>
            <a:ext cx="1996000" cy="780000"/>
          </a:xfrm>
          <a:prstGeom prst="rect">
            <a:avLst/>
          </a:prstGeom>
          <a:solidFill>
            <a:srgbClr val="F4F6FB"/>
          </a:solidFill>
          <a:ln>
            <a:noFill/>
          </a:ln>
        </p:spPr>
        <p:txBody>
          <a:bodyPr/>
          <a:lstStyle/>
          <a:p>
            <a:endParaRPr/>
          </a:p>
        </p:txBody>
      </p:sp>
      <p:sp>
        <p:nvSpPr>
          <p:cNvPr id="65" name="Circle65"/>
          <p:cNvSpPr/>
          <p:nvPr/>
        </p:nvSpPr>
        <p:spPr>
          <a:xfrm>
            <a:off x="2582983" y="0"/>
            <a:ext cx="140000" cy="140000"/>
          </a:xfrm>
          <a:prstGeom prst="ellipse">
            <a:avLst/>
          </a:prstGeom>
          <a:solidFill>
            <a:srgbClr val="0532B3"/>
          </a:solidFill>
          <a:ln>
            <a:noFill/>
          </a:ln>
        </p:spPr>
        <p:txBody>
          <a:bodyPr/>
          <a:lstStyle/>
          <a:p>
            <a:endParaRPr/>
          </a:p>
        </p:txBody>
      </p:sp>
      <p:sp>
        <p:nvSpPr>
          <p:cNvPr id="105" name="Text105"/>
          <p:cNvSpPr txBox="1"/>
          <p:nvPr/>
        </p:nvSpPr>
        <p:spPr>
          <a:xfrm>
            <a:off x="2772983" y="261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Bonus Percentage</a:t>
            </a:r>
          </a:p>
        </p:txBody>
      </p:sp>
      <p:sp>
        <p:nvSpPr>
          <p:cNvPr id="26" name="Rect26"/>
          <p:cNvSpPr/>
          <p:nvPr/>
        </p:nvSpPr>
        <p:spPr>
          <a:xfrm>
            <a:off x="4516983" y="2610000"/>
            <a:ext cx="1996000" cy="780000"/>
          </a:xfrm>
          <a:prstGeom prst="rect">
            <a:avLst/>
          </a:prstGeom>
          <a:solidFill>
            <a:srgbClr val="F4F6FB"/>
          </a:solidFill>
          <a:ln>
            <a:noFill/>
          </a:ln>
        </p:spPr>
        <p:txBody>
          <a:bodyPr/>
          <a:lstStyle/>
          <a:p>
            <a:endParaRPr/>
          </a:p>
        </p:txBody>
      </p:sp>
      <p:sp>
        <p:nvSpPr>
          <p:cNvPr id="66" name="Circle66"/>
          <p:cNvSpPr/>
          <p:nvPr/>
        </p:nvSpPr>
        <p:spPr>
          <a:xfrm>
            <a:off x="4656983" y="0"/>
            <a:ext cx="140000" cy="140000"/>
          </a:xfrm>
          <a:prstGeom prst="ellipse">
            <a:avLst/>
          </a:prstGeom>
          <a:solidFill>
            <a:srgbClr val="0532B3"/>
          </a:solidFill>
          <a:ln>
            <a:noFill/>
          </a:ln>
        </p:spPr>
        <p:txBody>
          <a:bodyPr/>
          <a:lstStyle/>
          <a:p>
            <a:endParaRPr/>
          </a:p>
        </p:txBody>
      </p:sp>
      <p:sp>
        <p:nvSpPr>
          <p:cNvPr id="106" name="Text106"/>
          <p:cNvSpPr txBox="1"/>
          <p:nvPr/>
        </p:nvSpPr>
        <p:spPr>
          <a:xfrm>
            <a:off x="4846983" y="261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Total Compensation</a:t>
            </a:r>
          </a:p>
        </p:txBody>
      </p:sp>
      <p:sp>
        <p:nvSpPr>
          <p:cNvPr id="67" name="Circle67"/>
          <p:cNvSpPr/>
          <p:nvPr/>
        </p:nvSpPr>
        <p:spPr>
          <a:xfrm>
            <a:off x="6730983" y="0"/>
            <a:ext cx="140000" cy="140000"/>
          </a:xfrm>
          <a:prstGeom prst="ellipse">
            <a:avLst/>
          </a:prstGeom>
          <a:solidFill>
            <a:srgbClr val="0532B3"/>
          </a:solidFill>
          <a:ln>
            <a:noFill/>
          </a:ln>
        </p:spPr>
        <p:txBody>
          <a:bodyPr/>
          <a:lstStyle/>
          <a:p>
            <a:endParaRPr/>
          </a:p>
        </p:txBody>
      </p:sp>
      <p:sp>
        <p:nvSpPr>
          <p:cNvPr id="28" name="Rect28"/>
          <p:cNvSpPr/>
          <p:nvPr/>
        </p:nvSpPr>
        <p:spPr>
          <a:xfrm>
            <a:off x="368983" y="3520000"/>
            <a:ext cx="1996000" cy="780000"/>
          </a:xfrm>
          <a:prstGeom prst="rect">
            <a:avLst/>
          </a:prstGeom>
          <a:solidFill>
            <a:srgbClr val="F4F6FB"/>
          </a:solidFill>
          <a:ln>
            <a:noFill/>
          </a:ln>
        </p:spPr>
        <p:txBody>
          <a:bodyPr/>
          <a:lstStyle/>
          <a:p>
            <a:endParaRPr/>
          </a:p>
        </p:txBody>
      </p:sp>
      <p:sp>
        <p:nvSpPr>
          <p:cNvPr id="68" name="Circle68"/>
          <p:cNvSpPr/>
          <p:nvPr/>
        </p:nvSpPr>
        <p:spPr>
          <a:xfrm>
            <a:off x="508983" y="0"/>
            <a:ext cx="140000" cy="140000"/>
          </a:xfrm>
          <a:prstGeom prst="ellipse">
            <a:avLst/>
          </a:prstGeom>
          <a:solidFill>
            <a:srgbClr val="0532B3"/>
          </a:solidFill>
          <a:ln>
            <a:noFill/>
          </a:ln>
        </p:spPr>
        <p:txBody>
          <a:bodyPr/>
          <a:lstStyle/>
          <a:p>
            <a:endParaRPr/>
          </a:p>
        </p:txBody>
      </p:sp>
      <p:sp>
        <p:nvSpPr>
          <p:cNvPr id="108" name="Text108"/>
          <p:cNvSpPr txBox="1"/>
          <p:nvPr/>
        </p:nvSpPr>
        <p:spPr>
          <a:xfrm>
            <a:off x="698983" y="352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Performance Rating</a:t>
            </a:r>
          </a:p>
        </p:txBody>
      </p:sp>
      <p:sp>
        <p:nvSpPr>
          <p:cNvPr id="29" name="Rect29"/>
          <p:cNvSpPr/>
          <p:nvPr/>
        </p:nvSpPr>
        <p:spPr>
          <a:xfrm>
            <a:off x="2442983" y="3520000"/>
            <a:ext cx="1996000" cy="780000"/>
          </a:xfrm>
          <a:prstGeom prst="rect">
            <a:avLst/>
          </a:prstGeom>
          <a:solidFill>
            <a:srgbClr val="F4F6FB"/>
          </a:solidFill>
          <a:ln>
            <a:noFill/>
          </a:ln>
        </p:spPr>
        <p:txBody>
          <a:bodyPr/>
          <a:lstStyle/>
          <a:p>
            <a:endParaRPr/>
          </a:p>
        </p:txBody>
      </p:sp>
      <p:sp>
        <p:nvSpPr>
          <p:cNvPr id="69" name="Circle69"/>
          <p:cNvSpPr/>
          <p:nvPr/>
        </p:nvSpPr>
        <p:spPr>
          <a:xfrm>
            <a:off x="2582983" y="0"/>
            <a:ext cx="140000" cy="140000"/>
          </a:xfrm>
          <a:prstGeom prst="ellipse">
            <a:avLst/>
          </a:prstGeom>
          <a:solidFill>
            <a:srgbClr val="0532B3"/>
          </a:solidFill>
          <a:ln>
            <a:noFill/>
          </a:ln>
        </p:spPr>
        <p:txBody>
          <a:bodyPr/>
          <a:lstStyle/>
          <a:p>
            <a:endParaRPr/>
          </a:p>
        </p:txBody>
      </p:sp>
      <p:sp>
        <p:nvSpPr>
          <p:cNvPr id="109" name="Text109"/>
          <p:cNvSpPr txBox="1"/>
          <p:nvPr/>
        </p:nvSpPr>
        <p:spPr>
          <a:xfrm>
            <a:off x="2772983" y="352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Total Sales</a:t>
            </a:r>
          </a:p>
        </p:txBody>
      </p:sp>
      <p:sp>
        <p:nvSpPr>
          <p:cNvPr id="30" name="Rect30"/>
          <p:cNvSpPr/>
          <p:nvPr/>
        </p:nvSpPr>
        <p:spPr>
          <a:xfrm>
            <a:off x="4516983" y="3520000"/>
            <a:ext cx="1996000" cy="780000"/>
          </a:xfrm>
          <a:prstGeom prst="rect">
            <a:avLst/>
          </a:prstGeom>
          <a:solidFill>
            <a:srgbClr val="F4F6FB"/>
          </a:solidFill>
          <a:ln>
            <a:noFill/>
          </a:ln>
        </p:spPr>
        <p:txBody>
          <a:bodyPr/>
          <a:lstStyle/>
          <a:p>
            <a:endParaRPr/>
          </a:p>
        </p:txBody>
      </p:sp>
      <p:sp>
        <p:nvSpPr>
          <p:cNvPr id="70" name="Circle70"/>
          <p:cNvSpPr/>
          <p:nvPr/>
        </p:nvSpPr>
        <p:spPr>
          <a:xfrm>
            <a:off x="4656983" y="0"/>
            <a:ext cx="140000" cy="140000"/>
          </a:xfrm>
          <a:prstGeom prst="ellipse">
            <a:avLst/>
          </a:prstGeom>
          <a:solidFill>
            <a:srgbClr val="0532B3"/>
          </a:solidFill>
          <a:ln>
            <a:noFill/>
          </a:ln>
        </p:spPr>
        <p:txBody>
          <a:bodyPr/>
          <a:lstStyle/>
          <a:p>
            <a:endParaRPr/>
          </a:p>
        </p:txBody>
      </p:sp>
      <p:sp>
        <p:nvSpPr>
          <p:cNvPr id="110" name="Text110"/>
          <p:cNvSpPr txBox="1"/>
          <p:nvPr/>
        </p:nvSpPr>
        <p:spPr>
          <a:xfrm>
            <a:off x="4846983" y="3520000"/>
            <a:ext cx="1616000" cy="780000"/>
          </a:xfrm>
          <a:prstGeom prst="rect">
            <a:avLst/>
          </a:prstGeom>
          <a:noFill/>
        </p:spPr>
        <p:txBody>
          <a:bodyPr wrap="square" lIns="0" tIns="0" rIns="0" bIns="0" anchor="ctr">
            <a:normAutofit/>
          </a:bodyPr>
          <a:lstStyle/>
          <a:p>
            <a:pPr algn="l"/>
            <a:r>
              <a:rPr lang="en-IN" sz="1150" b="1" i="0" dirty="0">
                <a:solidFill>
                  <a:srgbClr val="1B1E29"/>
                </a:solidFill>
                <a:latin typeface="IBM Plex Sans SemiBold" panose="020B0503050203000203" pitchFamily="34" charset="0"/>
              </a:rPr>
              <a:t>Employee Attributes</a:t>
            </a:r>
          </a:p>
        </p:txBody>
      </p:sp>
      <p:sp>
        <p:nvSpPr>
          <p:cNvPr id="71" name="Circle71"/>
          <p:cNvSpPr/>
          <p:nvPr/>
        </p:nvSpPr>
        <p:spPr>
          <a:xfrm>
            <a:off x="6730983" y="0"/>
            <a:ext cx="140000" cy="140000"/>
          </a:xfrm>
          <a:prstGeom prst="ellipse">
            <a:avLst/>
          </a:prstGeom>
          <a:solidFill>
            <a:srgbClr val="0532B3"/>
          </a:solidFill>
          <a:ln>
            <a:noFill/>
          </a:ln>
        </p:spPr>
        <p:txBody>
          <a:bodyPr/>
          <a:lstStyle/>
          <a:p>
            <a:endParaRP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Dashboard Feature: KPI Cards</a:t>
            </a:r>
          </a:p>
        </p:txBody>
      </p:sp>
      <p:sp>
        <p:nvSpPr>
          <p:cNvPr id="9" name="Subtitle"/>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At-a-glance summary metrics shown at the top of the dashboard</a:t>
            </a:r>
          </a:p>
        </p:txBody>
      </p:sp>
      <p:sp>
        <p:nvSpPr>
          <p:cNvPr id="20" name="Rect20"/>
          <p:cNvSpPr/>
          <p:nvPr/>
        </p:nvSpPr>
        <p:spPr>
          <a:xfrm>
            <a:off x="368983" y="1900000"/>
            <a:ext cx="1590000" cy="1750000"/>
          </a:xfrm>
          <a:prstGeom prst="rect">
            <a:avLst/>
          </a:prstGeom>
          <a:solidFill>
            <a:srgbClr val="F4F6FB"/>
          </a:solidFill>
          <a:ln>
            <a:noFill/>
          </a:ln>
        </p:spPr>
        <p:txBody>
          <a:bodyPr/>
          <a:lstStyle/>
          <a:p>
            <a:endParaRPr/>
          </a:p>
        </p:txBody>
      </p:sp>
      <p:sp>
        <p:nvSpPr>
          <p:cNvPr id="60" name="Circle60"/>
          <p:cNvSpPr/>
          <p:nvPr/>
        </p:nvSpPr>
        <p:spPr>
          <a:xfrm>
            <a:off x="0" y="2130000"/>
            <a:ext cx="380000" cy="380000"/>
          </a:xfrm>
          <a:prstGeom prst="ellipse">
            <a:avLst/>
          </a:prstGeom>
          <a:solidFill>
            <a:srgbClr val="0532B3"/>
          </a:solidFill>
          <a:ln>
            <a:noFill/>
          </a:ln>
        </p:spPr>
        <p:txBody>
          <a:bodyPr/>
          <a:lstStyle/>
          <a:p>
            <a:endParaRPr/>
          </a:p>
        </p:txBody>
      </p:sp>
      <p:sp>
        <p:nvSpPr>
          <p:cNvPr id="100" name="Text100"/>
          <p:cNvSpPr txBox="1"/>
          <p:nvPr/>
        </p:nvSpPr>
        <p:spPr>
          <a:xfrm>
            <a:off x="518983" y="2680000"/>
            <a:ext cx="1290000" cy="700000"/>
          </a:xfrm>
          <a:prstGeom prst="rect">
            <a:avLst/>
          </a:prstGeom>
          <a:noFill/>
        </p:spPr>
        <p:txBody>
          <a:bodyPr wrap="square" lIns="0" tIns="0" rIns="0" bIns="0" anchor="t">
            <a:normAutofit/>
          </a:bodyPr>
          <a:lstStyle/>
          <a:p>
            <a:pPr algn="ctr"/>
            <a:r>
              <a:rPr lang="en-IN" sz="1150" b="1" i="0" dirty="0">
                <a:solidFill>
                  <a:srgbClr val="1B1E29"/>
                </a:solidFill>
                <a:latin typeface="IBM Plex Sans SemiBold" panose="020B0503050203000203" pitchFamily="34" charset="0"/>
              </a:rPr>
              <a:t>Total Employees</a:t>
            </a:r>
          </a:p>
        </p:txBody>
      </p:sp>
      <p:sp>
        <p:nvSpPr>
          <p:cNvPr id="21" name="Rect21"/>
          <p:cNvSpPr/>
          <p:nvPr/>
        </p:nvSpPr>
        <p:spPr>
          <a:xfrm>
            <a:off x="2054983" y="1900000"/>
            <a:ext cx="1590000" cy="1750000"/>
          </a:xfrm>
          <a:prstGeom prst="rect">
            <a:avLst/>
          </a:prstGeom>
          <a:solidFill>
            <a:srgbClr val="F4F6FB"/>
          </a:solidFill>
          <a:ln>
            <a:noFill/>
          </a:ln>
        </p:spPr>
        <p:txBody>
          <a:bodyPr/>
          <a:lstStyle/>
          <a:p>
            <a:endParaRPr/>
          </a:p>
        </p:txBody>
      </p:sp>
      <p:sp>
        <p:nvSpPr>
          <p:cNvPr id="61" name="Circle61"/>
          <p:cNvSpPr/>
          <p:nvPr/>
        </p:nvSpPr>
        <p:spPr>
          <a:xfrm>
            <a:off x="0" y="2130000"/>
            <a:ext cx="380000" cy="380000"/>
          </a:xfrm>
          <a:prstGeom prst="ellipse">
            <a:avLst/>
          </a:prstGeom>
          <a:solidFill>
            <a:srgbClr val="0532B3"/>
          </a:solidFill>
          <a:ln>
            <a:noFill/>
          </a:ln>
        </p:spPr>
        <p:txBody>
          <a:bodyPr/>
          <a:lstStyle/>
          <a:p>
            <a:endParaRPr/>
          </a:p>
        </p:txBody>
      </p:sp>
      <p:sp>
        <p:nvSpPr>
          <p:cNvPr id="101" name="Text101"/>
          <p:cNvSpPr txBox="1"/>
          <p:nvPr/>
        </p:nvSpPr>
        <p:spPr>
          <a:xfrm>
            <a:off x="2204983" y="2680000"/>
            <a:ext cx="1290000" cy="700000"/>
          </a:xfrm>
          <a:prstGeom prst="rect">
            <a:avLst/>
          </a:prstGeom>
          <a:noFill/>
        </p:spPr>
        <p:txBody>
          <a:bodyPr wrap="square" lIns="0" tIns="0" rIns="0" bIns="0" anchor="t">
            <a:normAutofit/>
          </a:bodyPr>
          <a:lstStyle/>
          <a:p>
            <a:pPr algn="ctr"/>
            <a:r>
              <a:rPr lang="en-IN" sz="1150" b="1" i="0" dirty="0">
                <a:solidFill>
                  <a:srgbClr val="1B1E29"/>
                </a:solidFill>
                <a:latin typeface="IBM Plex Sans SemiBold" panose="020B0503050203000203" pitchFamily="34" charset="0"/>
              </a:rPr>
              <a:t>Total Sales</a:t>
            </a:r>
          </a:p>
        </p:txBody>
      </p:sp>
      <p:sp>
        <p:nvSpPr>
          <p:cNvPr id="22" name="Rect22"/>
          <p:cNvSpPr/>
          <p:nvPr/>
        </p:nvSpPr>
        <p:spPr>
          <a:xfrm>
            <a:off x="3740983" y="1900000"/>
            <a:ext cx="1590000" cy="1750000"/>
          </a:xfrm>
          <a:prstGeom prst="rect">
            <a:avLst/>
          </a:prstGeom>
          <a:solidFill>
            <a:srgbClr val="0532B3"/>
          </a:solidFill>
          <a:ln>
            <a:noFill/>
          </a:ln>
        </p:spPr>
        <p:txBody>
          <a:bodyPr/>
          <a:lstStyle/>
          <a:p>
            <a:endParaRPr/>
          </a:p>
        </p:txBody>
      </p:sp>
      <p:sp>
        <p:nvSpPr>
          <p:cNvPr id="62" name="Circle62"/>
          <p:cNvSpPr/>
          <p:nvPr/>
        </p:nvSpPr>
        <p:spPr>
          <a:xfrm>
            <a:off x="0" y="2130000"/>
            <a:ext cx="380000" cy="380000"/>
          </a:xfrm>
          <a:prstGeom prst="ellipse">
            <a:avLst/>
          </a:prstGeom>
          <a:solidFill>
            <a:srgbClr val="F2994A"/>
          </a:solidFill>
          <a:ln>
            <a:noFill/>
          </a:ln>
        </p:spPr>
        <p:txBody>
          <a:bodyPr/>
          <a:lstStyle/>
          <a:p>
            <a:endParaRPr/>
          </a:p>
        </p:txBody>
      </p:sp>
      <p:sp>
        <p:nvSpPr>
          <p:cNvPr id="102" name="Text102"/>
          <p:cNvSpPr txBox="1"/>
          <p:nvPr/>
        </p:nvSpPr>
        <p:spPr>
          <a:xfrm>
            <a:off x="3890983" y="2680000"/>
            <a:ext cx="1290000" cy="700000"/>
          </a:xfrm>
          <a:prstGeom prst="rect">
            <a:avLst/>
          </a:prstGeom>
          <a:noFill/>
        </p:spPr>
        <p:txBody>
          <a:bodyPr wrap="square" lIns="0" tIns="0" rIns="0" bIns="0" anchor="t">
            <a:normAutofit/>
          </a:bodyPr>
          <a:lstStyle/>
          <a:p>
            <a:pPr algn="ctr"/>
            <a:r>
              <a:rPr lang="en-IN" sz="1150" b="1" i="0" dirty="0">
                <a:solidFill>
                  <a:srgbClr val="FFFFFF"/>
                </a:solidFill>
                <a:latin typeface="IBM Plex Sans SemiBold" panose="020B0503050203000203" pitchFamily="34" charset="0"/>
              </a:rPr>
              <a:t>Average Salary</a:t>
            </a:r>
          </a:p>
        </p:txBody>
      </p:sp>
      <p:sp>
        <p:nvSpPr>
          <p:cNvPr id="23" name="Rect23"/>
          <p:cNvSpPr/>
          <p:nvPr/>
        </p:nvSpPr>
        <p:spPr>
          <a:xfrm>
            <a:off x="5426983" y="1900000"/>
            <a:ext cx="1590000" cy="1750000"/>
          </a:xfrm>
          <a:prstGeom prst="rect">
            <a:avLst/>
          </a:prstGeom>
          <a:solidFill>
            <a:srgbClr val="F4F6FB"/>
          </a:solidFill>
          <a:ln>
            <a:noFill/>
          </a:ln>
        </p:spPr>
        <p:txBody>
          <a:bodyPr/>
          <a:lstStyle/>
          <a:p>
            <a:endParaRPr/>
          </a:p>
        </p:txBody>
      </p:sp>
      <p:sp>
        <p:nvSpPr>
          <p:cNvPr id="63" name="Circle63"/>
          <p:cNvSpPr/>
          <p:nvPr/>
        </p:nvSpPr>
        <p:spPr>
          <a:xfrm>
            <a:off x="0" y="2130000"/>
            <a:ext cx="380000" cy="380000"/>
          </a:xfrm>
          <a:prstGeom prst="ellipse">
            <a:avLst/>
          </a:prstGeom>
          <a:solidFill>
            <a:srgbClr val="0532B3"/>
          </a:solidFill>
          <a:ln>
            <a:noFill/>
          </a:ln>
        </p:spPr>
        <p:txBody>
          <a:bodyPr/>
          <a:lstStyle/>
          <a:p>
            <a:endParaRPr/>
          </a:p>
        </p:txBody>
      </p:sp>
      <p:sp>
        <p:nvSpPr>
          <p:cNvPr id="103" name="Text103"/>
          <p:cNvSpPr txBox="1"/>
          <p:nvPr/>
        </p:nvSpPr>
        <p:spPr>
          <a:xfrm>
            <a:off x="5576983" y="2680000"/>
            <a:ext cx="1290000" cy="700000"/>
          </a:xfrm>
          <a:prstGeom prst="rect">
            <a:avLst/>
          </a:prstGeom>
          <a:noFill/>
        </p:spPr>
        <p:txBody>
          <a:bodyPr wrap="square" lIns="0" tIns="0" rIns="0" bIns="0" anchor="t">
            <a:normAutofit/>
          </a:bodyPr>
          <a:lstStyle/>
          <a:p>
            <a:pPr algn="ctr"/>
            <a:r>
              <a:rPr lang="en-IN" sz="1150" b="1" i="0" dirty="0">
                <a:solidFill>
                  <a:srgbClr val="1B1E29"/>
                </a:solidFill>
                <a:latin typeface="IBM Plex Sans SemiBold" panose="020B0503050203000203" pitchFamily="34" charset="0"/>
              </a:rPr>
              <a:t>Average Rating</a:t>
            </a:r>
          </a:p>
        </p:txBody>
      </p:sp>
      <p:sp>
        <p:nvSpPr>
          <p:cNvPr id="24" name="Rect24"/>
          <p:cNvSpPr/>
          <p:nvPr/>
        </p:nvSpPr>
        <p:spPr>
          <a:xfrm>
            <a:off x="7112983" y="1900000"/>
            <a:ext cx="1590000" cy="1750000"/>
          </a:xfrm>
          <a:prstGeom prst="rect">
            <a:avLst/>
          </a:prstGeom>
          <a:solidFill>
            <a:srgbClr val="F4F6FB"/>
          </a:solidFill>
          <a:ln>
            <a:noFill/>
          </a:ln>
        </p:spPr>
        <p:txBody>
          <a:bodyPr/>
          <a:lstStyle/>
          <a:p>
            <a:endParaRPr/>
          </a:p>
        </p:txBody>
      </p:sp>
      <p:sp>
        <p:nvSpPr>
          <p:cNvPr id="64" name="Circle64"/>
          <p:cNvSpPr/>
          <p:nvPr/>
        </p:nvSpPr>
        <p:spPr>
          <a:xfrm>
            <a:off x="0" y="2130000"/>
            <a:ext cx="380000" cy="380000"/>
          </a:xfrm>
          <a:prstGeom prst="ellipse">
            <a:avLst/>
          </a:prstGeom>
          <a:solidFill>
            <a:srgbClr val="0532B3"/>
          </a:solidFill>
          <a:ln>
            <a:noFill/>
          </a:ln>
        </p:spPr>
        <p:txBody>
          <a:bodyPr/>
          <a:lstStyle/>
          <a:p>
            <a:endParaRPr/>
          </a:p>
        </p:txBody>
      </p:sp>
      <p:sp>
        <p:nvSpPr>
          <p:cNvPr id="104" name="Text104"/>
          <p:cNvSpPr txBox="1"/>
          <p:nvPr/>
        </p:nvSpPr>
        <p:spPr>
          <a:xfrm>
            <a:off x="7262983" y="2680000"/>
            <a:ext cx="1290000" cy="700000"/>
          </a:xfrm>
          <a:prstGeom prst="rect">
            <a:avLst/>
          </a:prstGeom>
          <a:noFill/>
        </p:spPr>
        <p:txBody>
          <a:bodyPr wrap="square" lIns="0" tIns="0" rIns="0" bIns="0" anchor="t">
            <a:normAutofit/>
          </a:bodyPr>
          <a:lstStyle/>
          <a:p>
            <a:pPr algn="ctr"/>
            <a:r>
              <a:rPr lang="en-IN" sz="1150" b="1" i="0" dirty="0">
                <a:solidFill>
                  <a:srgbClr val="1B1E29"/>
                </a:solidFill>
                <a:latin typeface="IBM Plex Sans SemiBold" panose="020B0503050203000203" pitchFamily="34" charset="0"/>
              </a:rPr>
              <a:t>Average Compensation</a:t>
            </a:r>
          </a:p>
        </p:txBody>
      </p:sp>
      <p:sp>
        <p:nvSpPr>
          <p:cNvPr id="200" name="Text200"/>
          <p:cNvSpPr txBox="1"/>
          <p:nvPr/>
        </p:nvSpPr>
        <p:spPr>
          <a:xfrm>
            <a:off x="368983" y="3950000"/>
            <a:ext cx="8406034" cy="400000"/>
          </a:xfrm>
          <a:prstGeom prst="rect">
            <a:avLst/>
          </a:prstGeom>
          <a:noFill/>
        </p:spPr>
        <p:txBody>
          <a:bodyPr wrap="square" lIns="0" tIns="0" rIns="0" bIns="0" anchor="t">
            <a:normAutofit/>
          </a:bodyPr>
          <a:lstStyle/>
          <a:p>
            <a:pPr algn="ctr"/>
            <a:r>
              <a:rPr lang="en-IN" sz="1150" b="0" i="1" dirty="0">
                <a:solidFill>
                  <a:srgbClr val="5B6577"/>
                </a:solidFill>
                <a:latin typeface="IBM Plex Sans" panose="020B0503050203000203" pitchFamily="34" charset="0"/>
              </a:rPr>
              <a:t>Each KPI card surfaces a single headline number, refreshed instantly as filters change.</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Dashboard Features: Bar Charts &amp; Visuals</a:t>
            </a:r>
          </a:p>
        </p:txBody>
      </p:sp>
      <p:sp>
        <p:nvSpPr>
          <p:cNvPr id="9" name="Subtitle"/>
          <p:cNvSpPr txBox="1"/>
          <p:nvPr/>
        </p:nvSpPr>
        <p:spPr>
          <a:xfrm>
            <a:off x="368983" y="1130000"/>
            <a:ext cx="79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Comparative and distributional views of employee performance and sales data</a:t>
            </a:r>
          </a:p>
        </p:txBody>
      </p:sp>
      <p:sp>
        <p:nvSpPr>
          <p:cNvPr id="20" name="Rect20"/>
          <p:cNvSpPr/>
          <p:nvPr/>
        </p:nvSpPr>
        <p:spPr>
          <a:xfrm>
            <a:off x="368983" y="1650000"/>
            <a:ext cx="4050000" cy="3150000"/>
          </a:xfrm>
          <a:prstGeom prst="rect">
            <a:avLst/>
          </a:prstGeom>
          <a:solidFill>
            <a:srgbClr val="EDF1FC"/>
          </a:solidFill>
          <a:ln>
            <a:noFill/>
          </a:ln>
        </p:spPr>
        <p:txBody>
          <a:bodyPr/>
          <a:lstStyle/>
          <a:p>
            <a:endParaRPr/>
          </a:p>
        </p:txBody>
      </p:sp>
      <p:sp>
        <p:nvSpPr>
          <p:cNvPr id="21" name="Rect21"/>
          <p:cNvSpPr/>
          <p:nvPr/>
        </p:nvSpPr>
        <p:spPr>
          <a:xfrm>
            <a:off x="4618983" y="1650000"/>
            <a:ext cx="4050000" cy="3150000"/>
          </a:xfrm>
          <a:prstGeom prst="rect">
            <a:avLst/>
          </a:prstGeom>
          <a:solidFill>
            <a:srgbClr val="FBEFE6"/>
          </a:solidFill>
          <a:ln>
            <a:noFill/>
          </a:ln>
        </p:spPr>
        <p:txBody>
          <a:bodyPr/>
          <a:lstStyle/>
          <a:p>
            <a:endParaRPr/>
          </a:p>
        </p:txBody>
      </p:sp>
      <p:sp>
        <p:nvSpPr>
          <p:cNvPr id="30" name="Circle30"/>
          <p:cNvSpPr/>
          <p:nvPr/>
        </p:nvSpPr>
        <p:spPr>
          <a:xfrm>
            <a:off x="598983" y="1880000"/>
            <a:ext cx="460000" cy="460000"/>
          </a:xfrm>
          <a:prstGeom prst="ellipse">
            <a:avLst/>
          </a:prstGeom>
          <a:solidFill>
            <a:srgbClr val="0532B3"/>
          </a:solidFill>
          <a:ln>
            <a:noFill/>
          </a:ln>
        </p:spPr>
        <p:txBody>
          <a:bodyPr/>
          <a:lstStyle/>
          <a:p>
            <a:endParaRPr/>
          </a:p>
        </p:txBody>
      </p:sp>
      <p:sp>
        <p:nvSpPr>
          <p:cNvPr id="31" name="Glyph31"/>
          <p:cNvSpPr/>
          <p:nvPr/>
        </p:nvSpPr>
        <p:spPr>
          <a:xfrm>
            <a:off x="748983" y="1980000"/>
            <a:ext cx="160000" cy="220000"/>
          </a:xfrm>
          <a:prstGeom prst="teardrop">
            <a:avLst/>
          </a:prstGeom>
          <a:solidFill>
            <a:srgbClr val="FFFFFF"/>
          </a:solidFill>
          <a:ln>
            <a:noFill/>
          </a:ln>
        </p:spPr>
        <p:txBody>
          <a:bodyPr/>
          <a:lstStyle/>
          <a:p>
            <a:endParaRPr/>
          </a:p>
        </p:txBody>
      </p:sp>
      <p:sp>
        <p:nvSpPr>
          <p:cNvPr id="40" name="Text40"/>
          <p:cNvSpPr txBox="1"/>
          <p:nvPr/>
        </p:nvSpPr>
        <p:spPr>
          <a:xfrm>
            <a:off x="598983" y="24400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Bar Charts</a:t>
            </a:r>
          </a:p>
        </p:txBody>
      </p:sp>
      <p:sp>
        <p:nvSpPr>
          <p:cNvPr id="41" name="Text41"/>
          <p:cNvSpPr txBox="1"/>
          <p:nvPr/>
        </p:nvSpPr>
        <p:spPr>
          <a:xfrm>
            <a:off x="598983" y="2950000"/>
            <a:ext cx="3590000" cy="1700000"/>
          </a:xfrm>
          <a:prstGeom prst="rect">
            <a:avLst/>
          </a:prstGeom>
          <a:noFill/>
        </p:spPr>
        <p:txBody>
          <a:bodyPr wrap="square" lIns="0" tIns="0" rIns="0" bIns="0" anchor="t">
            <a:normAutofit/>
          </a:bodyPr>
          <a:lstStyle/>
          <a:p>
            <a:pPr algn="l"/>
            <a:r>
              <a:rPr lang="en-IN" sz="1250" b="0" i="0" dirty="0">
                <a:solidFill>
                  <a:srgbClr val="333A47"/>
                </a:solidFill>
                <a:latin typeface="IBM Plex Sans" panose="020B0503050203000203" pitchFamily="34" charset="0"/>
              </a:rPr>
              <a:t>Visual Comparison of key metrics across organizational groups, making department and location trends instantly clear.</a:t>
            </a:r>
          </a:p>
        </p:txBody>
      </p:sp>
      <p:sp>
        <p:nvSpPr>
          <p:cNvPr id="50" name="Circle50"/>
          <p:cNvSpPr/>
          <p:nvPr/>
        </p:nvSpPr>
        <p:spPr>
          <a:xfrm>
            <a:off x="4848983" y="1880000"/>
            <a:ext cx="460000" cy="460000"/>
          </a:xfrm>
          <a:prstGeom prst="ellipse">
            <a:avLst/>
          </a:prstGeom>
          <a:solidFill>
            <a:srgbClr val="F2994A"/>
          </a:solidFill>
          <a:ln>
            <a:noFill/>
          </a:ln>
        </p:spPr>
        <p:txBody>
          <a:bodyPr/>
          <a:lstStyle/>
          <a:p>
            <a:endParaRPr/>
          </a:p>
        </p:txBody>
      </p:sp>
      <p:sp>
        <p:nvSpPr>
          <p:cNvPr id="51" name="Glyph51"/>
          <p:cNvSpPr/>
          <p:nvPr/>
        </p:nvSpPr>
        <p:spPr>
          <a:xfrm>
            <a:off x="4998983" y="2120000"/>
            <a:ext cx="90000" cy="140000"/>
          </a:xfrm>
          <a:prstGeom prst="rect">
            <a:avLst/>
          </a:prstGeom>
          <a:solidFill>
            <a:srgbClr val="FFFFFF"/>
          </a:solidFill>
          <a:ln>
            <a:noFill/>
          </a:ln>
        </p:spPr>
        <p:txBody>
          <a:bodyPr/>
          <a:lstStyle/>
          <a:p>
            <a:endParaRPr/>
          </a:p>
        </p:txBody>
      </p:sp>
      <p:sp>
        <p:nvSpPr>
          <p:cNvPr id="52" name="Glyph52"/>
          <p:cNvSpPr/>
          <p:nvPr/>
        </p:nvSpPr>
        <p:spPr>
          <a:xfrm>
            <a:off x="5108983" y="2050000"/>
            <a:ext cx="90000" cy="210000"/>
          </a:xfrm>
          <a:prstGeom prst="rect">
            <a:avLst/>
          </a:prstGeom>
          <a:solidFill>
            <a:srgbClr val="FFFFFF"/>
          </a:solidFill>
          <a:ln>
            <a:noFill/>
          </a:ln>
        </p:spPr>
        <p:txBody>
          <a:bodyPr/>
          <a:lstStyle/>
          <a:p>
            <a:endParaRPr/>
          </a:p>
        </p:txBody>
      </p:sp>
      <p:sp>
        <p:nvSpPr>
          <p:cNvPr id="53" name="Glyph53"/>
          <p:cNvSpPr/>
          <p:nvPr/>
        </p:nvSpPr>
        <p:spPr>
          <a:xfrm>
            <a:off x="5218983" y="1990000"/>
            <a:ext cx="90000" cy="270000"/>
          </a:xfrm>
          <a:prstGeom prst="rect">
            <a:avLst/>
          </a:prstGeom>
          <a:solidFill>
            <a:srgbClr val="FFFFFF"/>
          </a:solidFill>
          <a:ln>
            <a:noFill/>
          </a:ln>
        </p:spPr>
        <p:txBody>
          <a:bodyPr/>
          <a:lstStyle/>
          <a:p>
            <a:endParaRPr/>
          </a:p>
        </p:txBody>
      </p:sp>
      <p:sp>
        <p:nvSpPr>
          <p:cNvPr id="60" name="Text60"/>
          <p:cNvSpPr txBox="1"/>
          <p:nvPr/>
        </p:nvSpPr>
        <p:spPr>
          <a:xfrm>
            <a:off x="4848983" y="2440000"/>
            <a:ext cx="3590000" cy="400000"/>
          </a:xfrm>
          <a:prstGeom prst="rect">
            <a:avLst/>
          </a:prstGeom>
          <a:noFill/>
        </p:spPr>
        <p:txBody>
          <a:bodyPr wrap="square" lIns="0" tIns="0" rIns="0" bIns="0" anchor="t">
            <a:normAutofit/>
          </a:bodyPr>
          <a:lstStyle/>
          <a:p>
            <a:pPr algn="l"/>
            <a:r>
              <a:rPr lang="en-IN" sz="1600" b="1" i="0" dirty="0">
                <a:solidFill>
                  <a:srgbClr val="B85042"/>
                </a:solidFill>
                <a:latin typeface="IBM Plex Sans SemiBold" panose="020B0503050203000203" pitchFamily="34" charset="0"/>
              </a:rPr>
              <a:t>Bar Chart Features</a:t>
            </a:r>
          </a:p>
        </p:txBody>
      </p:sp>
      <p:sp>
        <p:nvSpPr>
          <p:cNvPr id="70" name="Bullets70"/>
          <p:cNvSpPr txBox="1"/>
          <p:nvPr/>
        </p:nvSpPr>
        <p:spPr>
          <a:xfrm>
            <a:off x="4848983" y="2950000"/>
            <a:ext cx="3590000" cy="1700000"/>
          </a:xfrm>
          <a:prstGeom prst="rect">
            <a:avLst/>
          </a:prstGeom>
          <a:noFill/>
        </p:spPr>
        <p:txBody>
          <a:bodyPr wrap="square" lIns="0" tIns="0" rIns="0" bIns="0">
            <a:normAutofit/>
          </a:bodyPr>
          <a:lstStyle/>
          <a:p>
            <a:pPr marL="228600" indent="-228600">
              <a:buClr>
                <a:srgbClr val="F2994A"/>
              </a:buClr>
              <a:buFont typeface="Arial"/>
              <a:buChar char="▪"/>
            </a:pPr>
            <a:r>
              <a:rPr lang="en-IN" sz="1300" dirty="0">
                <a:solidFill>
                  <a:srgbClr val="333A47"/>
                </a:solidFill>
                <a:latin typeface="IBM Plex Sans" panose="020B0503050203000203" pitchFamily="34" charset="0"/>
              </a:rPr>
              <a:t>Compare baseline pay across different teams</a:t>
            </a:r>
          </a:p>
          <a:p>
            <a:pPr marL="228600" indent="-228600">
              <a:buClr>
                <a:srgbClr val="F2994A"/>
              </a:buClr>
              <a:buFont typeface="Arial"/>
              <a:buChar char="▪"/>
            </a:pPr>
            <a:r>
              <a:rPr lang="en-IN" sz="1300" dirty="0">
                <a:solidFill>
                  <a:srgbClr val="333A47"/>
                </a:solidFill>
                <a:latin typeface="IBM Plex Sans" panose="020B0503050203000203" pitchFamily="34" charset="0"/>
              </a:rPr>
              <a:t>Track regional sales performance across office locations</a:t>
            </a:r>
          </a:p>
          <a:p>
            <a:pPr marL="228600" indent="-228600">
              <a:buClr>
                <a:srgbClr val="F2994A"/>
              </a:buClr>
              <a:buFont typeface="Arial"/>
              <a:buChar char="▪"/>
            </a:pPr>
            <a:r>
              <a:rPr lang="en-IN" sz="1300" dirty="0">
                <a:solidFill>
                  <a:srgbClr val="333A47"/>
                </a:solidFill>
                <a:latin typeface="IBM Plex Sans" panose="020B0503050203000203" pitchFamily="34" charset="0"/>
              </a:rPr>
              <a:t>Highlight highest sales performing individual contributions</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4B9E-A836-1DD0-4988-0A4A2CB3D35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E5904F-1462-D762-9F6F-70CD473C245D}"/>
              </a:ext>
            </a:extLst>
          </p:cNvPr>
          <p:cNvPicPr>
            <a:picLocks noChangeAspect="1"/>
          </p:cNvPicPr>
          <p:nvPr/>
        </p:nvPicPr>
        <p:blipFill>
          <a:blip r:embed="rId2"/>
          <a:stretch>
            <a:fillRect/>
          </a:stretch>
        </p:blipFill>
        <p:spPr>
          <a:xfrm>
            <a:off x="888" y="0"/>
            <a:ext cx="9142223" cy="5143500"/>
          </a:xfrm>
          <a:prstGeom prst="rect">
            <a:avLst/>
          </a:prstGeom>
        </p:spPr>
      </p:pic>
      <p:sp>
        <p:nvSpPr>
          <p:cNvPr id="8" name="Title">
            <a:extLst>
              <a:ext uri="{FF2B5EF4-FFF2-40B4-BE49-F238E27FC236}">
                <a16:creationId xmlns:a16="http://schemas.microsoft.com/office/drawing/2014/main" id="{0E4DFB09-7E63-BF37-7138-4F05A228C2DB}"/>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Live Dashboard Demonstration</a:t>
            </a:r>
          </a:p>
        </p:txBody>
      </p:sp>
      <p:sp>
        <p:nvSpPr>
          <p:cNvPr id="9" name="Subtitle">
            <a:extLst>
              <a:ext uri="{FF2B5EF4-FFF2-40B4-BE49-F238E27FC236}">
                <a16:creationId xmlns:a16="http://schemas.microsoft.com/office/drawing/2014/main" id="{BC48F06B-C02B-D52F-DB98-2DF98F746563}"/>
              </a:ext>
            </a:extLst>
          </p:cNvPr>
          <p:cNvSpPr txBox="1"/>
          <p:nvPr/>
        </p:nvSpPr>
        <p:spPr>
          <a:xfrm>
            <a:off x="368983" y="1130000"/>
            <a:ext cx="79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Interactive data visualization dashboard built using Employee Performance dataset</a:t>
            </a:r>
          </a:p>
        </p:txBody>
      </p:sp>
      <p:sp>
        <p:nvSpPr>
          <p:cNvPr id="20" name="Rect20">
            <a:extLst>
              <a:ext uri="{FF2B5EF4-FFF2-40B4-BE49-F238E27FC236}">
                <a16:creationId xmlns:a16="http://schemas.microsoft.com/office/drawing/2014/main" id="{CED01555-3A14-E2F0-8571-6DEBC425D2EC}"/>
              </a:ext>
            </a:extLst>
          </p:cNvPr>
          <p:cNvSpPr/>
          <p:nvPr/>
        </p:nvSpPr>
        <p:spPr>
          <a:xfrm>
            <a:off x="368983" y="1650000"/>
            <a:ext cx="3820000" cy="2099718"/>
          </a:xfrm>
          <a:prstGeom prst="rect">
            <a:avLst/>
          </a:prstGeom>
          <a:solidFill>
            <a:srgbClr val="EDF1FC"/>
          </a:solidFill>
          <a:ln>
            <a:noFill/>
          </a:ln>
        </p:spPr>
        <p:txBody>
          <a:bodyPr/>
          <a:lstStyle/>
          <a:p>
            <a:endParaRPr/>
          </a:p>
        </p:txBody>
      </p:sp>
      <p:sp>
        <p:nvSpPr>
          <p:cNvPr id="30" name="Circle30">
            <a:extLst>
              <a:ext uri="{FF2B5EF4-FFF2-40B4-BE49-F238E27FC236}">
                <a16:creationId xmlns:a16="http://schemas.microsoft.com/office/drawing/2014/main" id="{19236DFC-FBB9-1CE5-AA77-9B8E392EA100}"/>
              </a:ext>
            </a:extLst>
          </p:cNvPr>
          <p:cNvSpPr/>
          <p:nvPr/>
        </p:nvSpPr>
        <p:spPr>
          <a:xfrm>
            <a:off x="598983" y="1880000"/>
            <a:ext cx="460000" cy="460000"/>
          </a:xfrm>
          <a:prstGeom prst="ellipse">
            <a:avLst/>
          </a:prstGeom>
          <a:solidFill>
            <a:srgbClr val="0532B3"/>
          </a:solidFill>
          <a:ln>
            <a:noFill/>
          </a:ln>
        </p:spPr>
        <p:txBody>
          <a:bodyPr/>
          <a:lstStyle/>
          <a:p>
            <a:endParaRPr/>
          </a:p>
        </p:txBody>
      </p:sp>
      <p:sp>
        <p:nvSpPr>
          <p:cNvPr id="31" name="Glyph31">
            <a:extLst>
              <a:ext uri="{FF2B5EF4-FFF2-40B4-BE49-F238E27FC236}">
                <a16:creationId xmlns:a16="http://schemas.microsoft.com/office/drawing/2014/main" id="{97C4602B-6351-2F07-95D6-8E41BA01D9C6}"/>
              </a:ext>
            </a:extLst>
          </p:cNvPr>
          <p:cNvSpPr/>
          <p:nvPr/>
        </p:nvSpPr>
        <p:spPr>
          <a:xfrm>
            <a:off x="748983" y="1980000"/>
            <a:ext cx="160000" cy="220000"/>
          </a:xfrm>
          <a:prstGeom prst="teardrop">
            <a:avLst/>
          </a:prstGeom>
          <a:solidFill>
            <a:srgbClr val="FFFFFF"/>
          </a:solidFill>
          <a:ln>
            <a:noFill/>
          </a:ln>
        </p:spPr>
        <p:txBody>
          <a:bodyPr/>
          <a:lstStyle/>
          <a:p>
            <a:endParaRPr/>
          </a:p>
        </p:txBody>
      </p:sp>
      <p:sp>
        <p:nvSpPr>
          <p:cNvPr id="40" name="Text40">
            <a:extLst>
              <a:ext uri="{FF2B5EF4-FFF2-40B4-BE49-F238E27FC236}">
                <a16:creationId xmlns:a16="http://schemas.microsoft.com/office/drawing/2014/main" id="{13628351-B773-2542-059A-FBE7FC21F568}"/>
              </a:ext>
            </a:extLst>
          </p:cNvPr>
          <p:cNvSpPr txBox="1"/>
          <p:nvPr/>
        </p:nvSpPr>
        <p:spPr>
          <a:xfrm>
            <a:off x="598983" y="24400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Link</a:t>
            </a:r>
          </a:p>
        </p:txBody>
      </p:sp>
      <p:sp>
        <p:nvSpPr>
          <p:cNvPr id="41" name="Text41">
            <a:extLst>
              <a:ext uri="{FF2B5EF4-FFF2-40B4-BE49-F238E27FC236}">
                <a16:creationId xmlns:a16="http://schemas.microsoft.com/office/drawing/2014/main" id="{640C59D3-CB73-2ABF-9977-57720A61D9D0}"/>
              </a:ext>
            </a:extLst>
          </p:cNvPr>
          <p:cNvSpPr txBox="1"/>
          <p:nvPr/>
        </p:nvSpPr>
        <p:spPr>
          <a:xfrm>
            <a:off x="598983" y="2950000"/>
            <a:ext cx="3590000" cy="1700000"/>
          </a:xfrm>
          <a:prstGeom prst="rect">
            <a:avLst/>
          </a:prstGeom>
          <a:noFill/>
        </p:spPr>
        <p:txBody>
          <a:bodyPr wrap="square" lIns="0" tIns="0" rIns="0" bIns="0" anchor="t">
            <a:normAutofit/>
          </a:bodyPr>
          <a:lstStyle/>
          <a:p>
            <a:r>
              <a:rPr lang="en-IN" sz="1250" dirty="0">
                <a:solidFill>
                  <a:srgbClr val="333A47"/>
                </a:solidFill>
                <a:latin typeface="IBM Plex Sans" panose="020B0503050203000203" pitchFamily="34" charset="0"/>
              </a:rPr>
              <a:t>https://public.tableau.com/app/profile/shivam.kawatra/viz/EmployeeAnalytics_17845026121930/EmployeePerformanceSalesAnalyticsDashboard?publish=yes</a:t>
            </a:r>
            <a:endParaRPr lang="en-IN" sz="1250" b="0" i="0" dirty="0">
              <a:solidFill>
                <a:srgbClr val="333A47"/>
              </a:solidFill>
              <a:latin typeface="IBM Plex Sans" panose="020B0503050203000203" pitchFamily="34" charset="0"/>
            </a:endParaRPr>
          </a:p>
        </p:txBody>
      </p:sp>
      <p:pic>
        <p:nvPicPr>
          <p:cNvPr id="10" name="Picture 9">
            <a:extLst>
              <a:ext uri="{FF2B5EF4-FFF2-40B4-BE49-F238E27FC236}">
                <a16:creationId xmlns:a16="http://schemas.microsoft.com/office/drawing/2014/main" id="{FCBE4B95-A9A8-3D1D-289E-B29556B7F9A4}"/>
              </a:ext>
            </a:extLst>
          </p:cNvPr>
          <p:cNvPicPr>
            <a:picLocks noChangeAspect="1"/>
          </p:cNvPicPr>
          <p:nvPr/>
        </p:nvPicPr>
        <p:blipFill>
          <a:blip r:embed="rId3"/>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C8E8CEA4-1F5E-1178-7398-5ABBAEB4CC36}"/>
              </a:ext>
            </a:extLst>
          </p:cNvPr>
          <p:cNvPicPr>
            <a:picLocks noChangeAspect="1"/>
          </p:cNvPicPr>
          <p:nvPr/>
        </p:nvPicPr>
        <p:blipFill>
          <a:blip r:embed="rId4"/>
          <a:stretch>
            <a:fillRect/>
          </a:stretch>
        </p:blipFill>
        <p:spPr>
          <a:xfrm>
            <a:off x="7978488" y="165591"/>
            <a:ext cx="796529" cy="705085"/>
          </a:xfrm>
          <a:prstGeom prst="rect">
            <a:avLst/>
          </a:prstGeom>
        </p:spPr>
      </p:pic>
      <p:pic>
        <p:nvPicPr>
          <p:cNvPr id="11" name="Picture 10">
            <a:extLst>
              <a:ext uri="{FF2B5EF4-FFF2-40B4-BE49-F238E27FC236}">
                <a16:creationId xmlns:a16="http://schemas.microsoft.com/office/drawing/2014/main" id="{D0B17324-B4DD-A3EA-018A-180E89E36AB7}"/>
              </a:ext>
            </a:extLst>
          </p:cNvPr>
          <p:cNvPicPr>
            <a:picLocks noChangeAspect="1"/>
          </p:cNvPicPr>
          <p:nvPr/>
        </p:nvPicPr>
        <p:blipFill>
          <a:blip r:embed="rId5"/>
          <a:stretch>
            <a:fillRect/>
          </a:stretch>
        </p:blipFill>
        <p:spPr>
          <a:xfrm>
            <a:off x="4568983" y="1653783"/>
            <a:ext cx="4355311" cy="2099718"/>
          </a:xfrm>
          <a:prstGeom prst="rect">
            <a:avLst/>
          </a:prstGeom>
        </p:spPr>
      </p:pic>
    </p:spTree>
    <p:extLst>
      <p:ext uri="{BB962C8B-B14F-4D97-AF65-F5344CB8AC3E}">
        <p14:creationId xmlns:p14="http://schemas.microsoft.com/office/powerpoint/2010/main" val="299626367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TotalTime>
  <Words>559</Words>
  <Application>Microsoft Office PowerPoint</Application>
  <PresentationFormat>On-screen Show (16:9)</PresentationFormat>
  <Paragraphs>99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IBM Plex Sans SemiBold</vt:lpstr>
      <vt:lpstr>Tahoma</vt:lpstr>
      <vt:lpstr>Helvetica Neue Light</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Tanuja Singh</dc:creator>
  <cp:lastModifiedBy>admin</cp:lastModifiedBy>
  <cp:revision>16</cp:revision>
  <dcterms:modified xsi:type="dcterms:W3CDTF">2026-07-30T11:16:41Z</dcterms:modified>
</cp:coreProperties>
</file>